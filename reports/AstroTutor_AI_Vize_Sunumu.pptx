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ccbb5dda-86d8-e602-d930-308adca81a25}">
          <p14:sldIdLst>
            <p14:sldId id="256"/>
            <p14:sldId id="257"/>
            <p14:sldId id="258"/>
          </p14:sldIdLst>
        </p14:section>
        <p14:section name="Domain Corpus" id="{cceace94-3c25-b00e-4b4e-55ef007ff993}">
          <p14:sldIdLst>
            <p14:sldId id="259"/>
            <p14:sldId id="260"/>
            <p14:sldId id="261"/>
            <p14:sldId id="262"/>
            <p14:sldId id="263"/>
            <p14:sldId id="264"/>
          </p14:sldIdLst>
        </p14:section>
        <p14:section name="Instruction Dataset" id="{86fbdb5a-96df-208a-34bd-d6c5138d777a}">
          <p14:sldIdLst>
            <p14:sldId id="265"/>
            <p14:sldId id="266"/>
            <p14:sldId id="267"/>
          </p14:sldIdLst>
        </p14:section>
        <p14:section name="Kalite ve plan" id="{7c83a816-809c-ac73-cef6-2204a2da5c4b}">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Doküman</c:v>
                </c:pt>
              </c:strCache>
            </c:strRef>
          </c:tx>
          <c:spPr>
            <a:solidFill>
              <a:srgbClr val="1F3B73"/>
            </a:solidFill>
            <a:effectLst/>
          </c:spPr>
          <c:invertIfNegative val="0"/>
          <c:dLbls>
            <c:numFmt formatCode="#,##0" sourceLinked="0"/>
            <c:txPr>
              <a:bodyPr/>
              <a:lstStyle/>
              <a:p>
                <a:pPr>
                  <a:defRPr b="0" i="0" strike="noStrike" sz="1200" u="none">
                    <a:solidFill>
                      <a:srgbClr val="24345C"/>
                    </a:solidFill>
                    <a:latin typeface="+mn-lt"/>
                  </a:defRPr>
                </a:pPr>
              </a:p>
            </c:txPr>
            <c:showLegendKey val="0"/>
            <c:showVal val="1"/>
            <c:showCatName val="0"/>
            <c:showSerName val="0"/>
            <c:showPercent val="0"/>
            <c:showBubbleSize val="0"/>
            <c:showLeaderLines val="0"/>
          </c:dLbls>
          <c:cat>
            <c:multiLvlStrRef>
              <c:f>Sheet1!$A$2:$A$5</c:f>
              <c:multiLvlStrCache>
                <c:ptCount val="4"/>
                <c:lvl>
                  <c:pt idx="0">
                    <c:v>Ham</c:v>
                  </c:pt>
                  <c:pt idx="1">
                    <c:v>Extraction sonrası</c:v>
                  </c:pt>
                  <c:pt idx="2">
                    <c:v>Filtre sonrası</c:v>
                  </c:pt>
                  <c:pt idx="3">
                    <c:v>Tekrar + 2. geçiş sonrası</c:v>
                  </c:pt>
                </c:lvl>
              </c:multiLvlStrCache>
            </c:multiLvlStrRef>
          </c:cat>
          <c:val>
            <c:numRef>
              <c:f>Sheet1!$B$2:$B$5</c:f>
              <c:numCache>
                <c:formatCode>General</c:formatCode>
                <c:ptCount val="4"/>
                <c:pt idx="0">
                  <c:v>17520</c:v>
                </c:pt>
                <c:pt idx="1">
                  <c:v>17334</c:v>
                </c:pt>
                <c:pt idx="2">
                  <c:v>16572</c:v>
                </c:pt>
                <c:pt idx="3">
                  <c:v>16284</c:v>
                </c:pt>
              </c:numCache>
            </c:numRef>
          </c:val>
        </c:ser>
        <c:dLbls>
          <c:numFmt formatCode="#,##0" sourceLinked="0"/>
          <c:txPr>
            <a:bodyPr/>
            <a:lstStyle/>
            <a:p>
              <a:pPr>
                <a:defRPr b="0" i="0" strike="noStrike" sz="1200" u="none">
                  <a:solidFill>
                    <a:srgbClr val="24345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4345C"/>
                </a:solidFill>
                <a:latin typeface="+mn-lt"/>
              </a:defRPr>
            </a:pPr>
            <a:endParaRPr lang="en-US"/>
          </a:p>
        </c:txPr>
        <c:crossAx val="2094734552"/>
        <c:crosses val="autoZero"/>
        <c:auto val="1"/>
        <c:lblAlgn val="ctr"/>
        <c:noMultiLvlLbl val="1"/>
      </c:catAx>
      <c:valAx>
        <c:axId val="2094734552"/>
        <c:scaling>
          <c:orientation val="minMax"/>
          <c:max val="18000"/>
          <c:min val="14000"/>
        </c:scaling>
        <c:delete val="0"/>
        <c:axPos val="l"/>
        <c:majorGridlines>
          <c:spPr>
            <a:ln w="6350" cap="flat">
              <a:solidFill>
                <a:srgbClr val="E1E6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43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45C"/>
                </a:solidFill>
                <a:latin typeface="+mn-lt"/>
              </a:defRPr>
            </a:pPr>
            <a:r>
              <a:rPr sz="1400" b="0" i="0" u="none" strike="noStrike">
                <a:solidFill>
                  <a:srgbClr val="24345C"/>
                </a:solidFill>
                <a:latin typeface="+mn-lt"/>
              </a:rPr>
              <a:t>Alt konu dağılımı (doküman payı)</a:t>
            </a:r>
          </a:p>
        </c:rich>
      </c:tx>
      <c:layout/>
      <c:overlay val="0"/>
    </c:title>
    <c:autoTitleDeleted val="0"/>
    <c:plotArea>
      <c:layout/>
      <c:barChart>
        <c:barDir val="bar"/>
        <c:grouping val="clustered"/>
        <c:varyColors val="0"/>
        <c:ser>
          <c:idx val="0"/>
          <c:order val="0"/>
          <c:tx>
            <c:strRef>
              <c:f>Sheet1!$B$1</c:f>
              <c:strCache>
                <c:ptCount val="1"/>
                <c:pt idx="0">
                  <c:v>Doküman payı</c:v>
                </c:pt>
              </c:strCache>
            </c:strRef>
          </c:tx>
          <c:spPr>
            <a:solidFill>
              <a:srgbClr val="2A9D8F"/>
            </a:solidFill>
            <a:effectLst/>
          </c:spPr>
          <c:invertIfNegative val="0"/>
          <c:dLbls>
            <c:numFmt formatCode="&quot;%&quot;0.0" sourceLinked="0"/>
            <c:txPr>
              <a:bodyPr/>
              <a:lstStyle/>
              <a:p>
                <a:pPr>
                  <a:defRPr b="0" i="0" strike="noStrike" sz="1200" u="none">
                    <a:solidFill>
                      <a:srgbClr val="24345C"/>
                    </a:solidFill>
                    <a:latin typeface="+mn-lt"/>
                  </a:defRPr>
                </a:pPr>
              </a:p>
            </c:txPr>
            <c:showLegendKey val="0"/>
            <c:showVal val="1"/>
            <c:showCatName val="0"/>
            <c:showSerName val="0"/>
            <c:showPercent val="0"/>
            <c:showBubbleSize val="0"/>
            <c:showLeaderLines val="0"/>
          </c:dLbls>
          <c:cat>
            <c:multiLvlStrRef>
              <c:f>Sheet1!$A$2:$A$10</c:f>
              <c:multiLvlStrCache>
                <c:ptCount val="9"/>
                <c:lvl>
                  <c:pt idx="0">
                    <c:v>Yıldızlar ve evrim</c:v>
                  </c:pt>
                  <c:pt idx="1">
                    <c:v>Gökadalar</c:v>
                  </c:pt>
                  <c:pt idx="2">
                    <c:v>Gezegen ve uydular</c:v>
                  </c:pt>
                  <c:pt idx="3">
                    <c:v>Güneş Sistemi</c:v>
                  </c:pt>
                  <c:pt idx="4">
                    <c:v>Gözlemevleri</c:v>
                  </c:pt>
                  <c:pt idx="5">
                    <c:v>Görevler</c:v>
                  </c:pt>
                  <c:pt idx="6">
                    <c:v>Kozmoloji</c:v>
                  </c:pt>
                  <c:pt idx="7">
                    <c:v>Ötegezegenler</c:v>
                  </c:pt>
                  <c:pt idx="8">
                    <c:v>Genel</c:v>
                  </c:pt>
                </c:lvl>
              </c:multiLvlStrCache>
            </c:multiLvlStrRef>
          </c:cat>
          <c:val>
            <c:numRef>
              <c:f>Sheet1!$B$2:$B$10</c:f>
              <c:numCache>
                <c:formatCode>General</c:formatCode>
                <c:ptCount val="9"/>
                <c:pt idx="0">
                  <c:v>24.9</c:v>
                </c:pt>
                <c:pt idx="1">
                  <c:v>17.8</c:v>
                </c:pt>
                <c:pt idx="2">
                  <c:v>14</c:v>
                </c:pt>
                <c:pt idx="3">
                  <c:v>12</c:v>
                </c:pt>
                <c:pt idx="4">
                  <c:v>9.1</c:v>
                </c:pt>
                <c:pt idx="5">
                  <c:v>8.1</c:v>
                </c:pt>
                <c:pt idx="6">
                  <c:v>7.4</c:v>
                </c:pt>
                <c:pt idx="7">
                  <c:v>4.9</c:v>
                </c:pt>
                <c:pt idx="8">
                  <c:v>1.6</c:v>
                </c:pt>
              </c:numCache>
            </c:numRef>
          </c:val>
        </c:ser>
        <c:dLbls>
          <c:numFmt formatCode="&quot;%&quot;0.0" sourceLinked="0"/>
          <c:txPr>
            <a:bodyPr/>
            <a:lstStyle/>
            <a:p>
              <a:pPr>
                <a:defRPr b="0" i="0" strike="noStrike" sz="1200" u="none">
                  <a:solidFill>
                    <a:srgbClr val="24345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4345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243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45C"/>
                </a:solidFill>
                <a:latin typeface="+mn-lt"/>
              </a:defRPr>
            </a:pPr>
            <a:r>
              <a:rPr sz="1400" b="0" i="0" u="none" strike="noStrike">
                <a:solidFill>
                  <a:srgbClr val="24345C"/>
                </a:solidFill>
                <a:latin typeface="+mn-lt"/>
              </a:rPr>
              <a:t>Görev türü dağılımı (hedef oranlara ±0,7 puan)</a:t>
            </a:r>
          </a:p>
        </c:rich>
      </c:tx>
      <c:layout/>
      <c:overlay val="0"/>
    </c:title>
    <c:autoTitleDeleted val="0"/>
    <c:plotArea>
      <c:layout/>
      <c:barChart>
        <c:barDir val="bar"/>
        <c:grouping val="clustered"/>
        <c:varyColors val="0"/>
        <c:ser>
          <c:idx val="0"/>
          <c:order val="0"/>
          <c:tx>
            <c:strRef>
              <c:f>Sheet1!$B$1</c:f>
              <c:strCache>
                <c:ptCount val="1"/>
                <c:pt idx="0">
                  <c:v>Örnek</c:v>
                </c:pt>
              </c:strCache>
            </c:strRef>
          </c:tx>
          <c:spPr>
            <a:solidFill>
              <a:srgbClr val="E8A21E"/>
            </a:solidFill>
            <a:effectLst/>
          </c:spPr>
          <c:invertIfNegative val="0"/>
          <c:dLbls>
            <c:numFmt formatCode="#,##0" sourceLinked="0"/>
            <c:txPr>
              <a:bodyPr/>
              <a:lstStyle/>
              <a:p>
                <a:pPr>
                  <a:defRPr b="0" i="0" strike="noStrike" sz="1200" u="none">
                    <a:solidFill>
                      <a:srgbClr val="24345C"/>
                    </a:solidFill>
                    <a:latin typeface="+mn-lt"/>
                  </a:defRPr>
                </a:pPr>
              </a:p>
            </c:txPr>
            <c:showLegendKey val="0"/>
            <c:showVal val="1"/>
            <c:showCatName val="0"/>
            <c:showSerName val="0"/>
            <c:showPercent val="0"/>
            <c:showBubbleSize val="0"/>
            <c:showLeaderLines val="0"/>
          </c:dLbls>
          <c:cat>
            <c:multiLvlStrRef>
              <c:f>Sheet1!$A$2:$A$11</c:f>
              <c:multiLvlStrCache>
                <c:ptCount val="10"/>
                <c:lvl>
                  <c:pt idx="0">
                    <c:v>Tanım-açıklama</c:v>
                  </c:pt>
                  <c:pt idx="1">
                    <c:v>Seviyeli anlatım</c:v>
                  </c:pt>
                  <c:pt idx="2">
                    <c:v>Çoktan seçmeli (JSON)</c:v>
                  </c:pt>
                  <c:pt idx="3">
                    <c:v>Soru-cevap (SE)</c:v>
                  </c:pt>
                  <c:pt idx="4">
                    <c:v>Neden-sonuç</c:v>
                  </c:pt>
                  <c:pt idx="5">
                    <c:v>Karşılaştırma</c:v>
                  </c:pt>
                  <c:pt idx="6">
                    <c:v>Özetleme</c:v>
                  </c:pt>
                  <c:pt idx="7">
                    <c:v>Adım adım çözüm</c:v>
                  </c:pt>
                  <c:pt idx="8">
                    <c:v>Sınıflandırma</c:v>
                  </c:pt>
                  <c:pt idx="9">
                    <c:v>Kapsam dışı</c:v>
                  </c:pt>
                </c:lvl>
              </c:multiLvlStrCache>
            </c:multiLvlStrRef>
          </c:cat>
          <c:val>
            <c:numRef>
              <c:f>Sheet1!$B$2:$B$11</c:f>
              <c:numCache>
                <c:formatCode>General</c:formatCode>
                <c:ptCount val="10"/>
                <c:pt idx="0">
                  <c:v>538</c:v>
                </c:pt>
                <c:pt idx="1">
                  <c:v>507</c:v>
                </c:pt>
                <c:pt idx="2">
                  <c:v>451</c:v>
                </c:pt>
                <c:pt idx="3">
                  <c:v>401</c:v>
                </c:pt>
                <c:pt idx="4">
                  <c:v>344</c:v>
                </c:pt>
                <c:pt idx="5">
                  <c:v>333</c:v>
                </c:pt>
                <c:pt idx="6">
                  <c:v>267</c:v>
                </c:pt>
                <c:pt idx="7">
                  <c:v>248</c:v>
                </c:pt>
                <c:pt idx="8">
                  <c:v>152</c:v>
                </c:pt>
                <c:pt idx="9">
                  <c:v>147</c:v>
                </c:pt>
              </c:numCache>
            </c:numRef>
          </c:val>
        </c:ser>
        <c:dLbls>
          <c:numFmt formatCode="#,##0" sourceLinked="0"/>
          <c:txPr>
            <a:bodyPr/>
            <a:lstStyle/>
            <a:p>
              <a:pPr>
                <a:defRPr b="0" i="0" strike="noStrike" sz="1200" u="none">
                  <a:solidFill>
                    <a:srgbClr val="24345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4345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243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45C"/>
                </a:solidFill>
                <a:latin typeface="+mn-lt"/>
              </a:defRPr>
            </a:pPr>
            <a:r>
              <a:rPr sz="1400" b="0" i="0" u="none" strike="noStrike">
                <a:solidFill>
                  <a:srgbClr val="24345C"/>
                </a:solidFill>
                <a:latin typeface="+mn-lt"/>
              </a:rPr>
              <a:t>Corpus · 100 doküman</a:t>
            </a:r>
          </a:p>
        </c:rich>
      </c:tx>
      <c:layout/>
      <c:overlay val="0"/>
    </c:title>
    <c:autoTitleDeleted val="0"/>
    <c:plotArea>
      <c:layout/>
      <c:barChart>
        <c:barDir val="bar"/>
        <c:grouping val="clustered"/>
        <c:varyColors val="0"/>
        <c:ser>
          <c:idx val="0"/>
          <c:order val="0"/>
          <c:tx>
            <c:strRef>
              <c:f>Sheet1!$B$1</c:f>
              <c:strCache>
                <c:ptCount val="1"/>
                <c:pt idx="0">
                  <c:v>Başarı</c:v>
                </c:pt>
              </c:strCache>
            </c:strRef>
          </c:tx>
          <c:spPr>
            <a:solidFill>
              <a:srgbClr val="2A9D8F"/>
            </a:solidFill>
            <a:effectLst/>
          </c:spPr>
          <c:invertIfNegative val="0"/>
          <c:dLbls>
            <c:numFmt formatCode="&quot;%&quot;0" sourceLinked="0"/>
            <c:txPr>
              <a:bodyPr/>
              <a:lstStyle/>
              <a:p>
                <a:pPr>
                  <a:defRPr b="0" i="0" strike="noStrike" sz="1200" u="none">
                    <a:solidFill>
                      <a:srgbClr val="24345C"/>
                    </a:solidFill>
                    <a:latin typeface="+mn-lt"/>
                  </a:defRPr>
                </a:pPr>
              </a:p>
            </c:txPr>
            <c:showLegendKey val="0"/>
            <c:showVal val="1"/>
            <c:showCatName val="0"/>
            <c:showSerName val="0"/>
            <c:showPercent val="0"/>
            <c:showBubbleSize val="0"/>
            <c:showLeaderLines val="0"/>
          </c:dLbls>
          <c:cat>
            <c:multiLvlStrRef>
              <c:f>Sheet1!$A$2:$A$7</c:f>
              <c:multiLvlStrCache>
                <c:ptCount val="6"/>
                <c:lvl>
                  <c:pt idx="0">
                    <c:v>Okunabilir</c:v>
                  </c:pt>
                  <c:pt idx="1">
                    <c:v>Doğru alan</c:v>
                  </c:pt>
                  <c:pt idx="2">
                    <c:v>Extraction doğru</c:v>
                  </c:pt>
                  <c:pt idx="3">
                    <c:v>Header/footer temiz</c:v>
                  </c:pt>
                  <c:pt idx="4">
                    <c:v>Bozuk karakter yok</c:v>
                  </c:pt>
                  <c:pt idx="5">
                    <c:v>Metadata doğru</c:v>
                  </c:pt>
                </c:lvl>
              </c:multiLvlStrCache>
            </c:multiLvlStrRef>
          </c:cat>
          <c:val>
            <c:numRef>
              <c:f>Sheet1!$B$2:$B$7</c:f>
              <c:numCache>
                <c:formatCode>General</c:formatCode>
                <c:ptCount val="6"/>
                <c:pt idx="0">
                  <c:v>100</c:v>
                </c:pt>
                <c:pt idx="1">
                  <c:v>98</c:v>
                </c:pt>
                <c:pt idx="2">
                  <c:v>95</c:v>
                </c:pt>
                <c:pt idx="3">
                  <c:v>100</c:v>
                </c:pt>
                <c:pt idx="4">
                  <c:v>100</c:v>
                </c:pt>
                <c:pt idx="5">
                  <c:v>93</c:v>
                </c:pt>
              </c:numCache>
            </c:numRef>
          </c:val>
        </c:ser>
        <c:dLbls>
          <c:numFmt formatCode="&quot;%&quot;0" sourceLinked="0"/>
          <c:txPr>
            <a:bodyPr/>
            <a:lstStyle/>
            <a:p>
              <a:pPr>
                <a:defRPr b="0" i="0" strike="noStrike" sz="1200" u="none">
                  <a:solidFill>
                    <a:srgbClr val="24345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4345C"/>
                </a:solidFill>
                <a:latin typeface="+mn-lt"/>
              </a:defRPr>
            </a:pPr>
            <a:endParaRPr lang="en-US"/>
          </a:p>
        </c:txPr>
        <c:crossAx val="2094734552"/>
        <c:crosses val="autoZero"/>
        <c:auto val="1"/>
        <c:lblAlgn val="ctr"/>
        <c:noMultiLvlLbl val="1"/>
      </c:catAx>
      <c:valAx>
        <c:axId val="2094734552"/>
        <c:scaling>
          <c:orientation val="minMax"/>
          <c:max val="11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243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45C"/>
                </a:solidFill>
                <a:latin typeface="+mn-lt"/>
              </a:defRPr>
            </a:pPr>
            <a:r>
              <a:rPr sz="1400" b="0" i="0" u="none" strike="noStrike">
                <a:solidFill>
                  <a:srgbClr val="24345C"/>
                </a:solidFill>
                <a:latin typeface="+mn-lt"/>
              </a:rPr>
              <a:t>Instruction · 150 örnek</a:t>
            </a:r>
          </a:p>
        </c:rich>
      </c:tx>
      <c:layout/>
      <c:overlay val="0"/>
    </c:title>
    <c:autoTitleDeleted val="0"/>
    <c:plotArea>
      <c:layout/>
      <c:barChart>
        <c:barDir val="bar"/>
        <c:grouping val="clustered"/>
        <c:varyColors val="0"/>
        <c:ser>
          <c:idx val="0"/>
          <c:order val="0"/>
          <c:tx>
            <c:strRef>
              <c:f>Sheet1!$B$1</c:f>
              <c:strCache>
                <c:ptCount val="1"/>
                <c:pt idx="0">
                  <c:v>Başarı</c:v>
                </c:pt>
              </c:strCache>
            </c:strRef>
          </c:tx>
          <c:spPr>
            <a:solidFill>
              <a:srgbClr val="2A9D8F"/>
            </a:solidFill>
            <a:effectLst/>
          </c:spPr>
          <c:invertIfNegative val="0"/>
          <c:dLbls>
            <c:numFmt formatCode="&quot;%&quot;0" sourceLinked="0"/>
            <c:txPr>
              <a:bodyPr/>
              <a:lstStyle/>
              <a:p>
                <a:pPr>
                  <a:defRPr b="0" i="0" strike="noStrike" sz="1200" u="none">
                    <a:solidFill>
                      <a:srgbClr val="24345C"/>
                    </a:solidFill>
                    <a:latin typeface="+mn-lt"/>
                  </a:defRPr>
                </a:pPr>
              </a:p>
            </c:txPr>
            <c:showLegendKey val="0"/>
            <c:showVal val="1"/>
            <c:showCatName val="0"/>
            <c:showSerName val="0"/>
            <c:showPercent val="0"/>
            <c:showBubbleSize val="0"/>
            <c:showLeaderLines val="0"/>
          </c:dLbls>
          <c:cat>
            <c:multiLvlStrRef>
              <c:f>Sheet1!$A$2:$A$6</c:f>
              <c:multiLvlStrCache>
                <c:ptCount val="5"/>
                <c:lvl>
                  <c:pt idx="0">
                    <c:v>Talimat anlaşılır</c:v>
                  </c:pt>
                  <c:pt idx="1">
                    <c:v>Kaynakla tutarlı</c:v>
                  </c:pt>
                  <c:pt idx="2">
                    <c:v>Talimatı karşılıyor</c:v>
                  </c:pt>
                  <c:pt idx="3">
                    <c:v>Görev türü doğru</c:v>
                  </c:pt>
                  <c:pt idx="4">
                    <c:v>Türkçe akıcı</c:v>
                  </c:pt>
                </c:lvl>
              </c:multiLvlStrCache>
            </c:multiLvlStrRef>
          </c:cat>
          <c:val>
            <c:numRef>
              <c:f>Sheet1!$B$2:$B$6</c:f>
              <c:numCache>
                <c:formatCode>General</c:formatCode>
                <c:ptCount val="5"/>
                <c:pt idx="0">
                  <c:v>99</c:v>
                </c:pt>
                <c:pt idx="1">
                  <c:v>94</c:v>
                </c:pt>
                <c:pt idx="2">
                  <c:v>95</c:v>
                </c:pt>
                <c:pt idx="3">
                  <c:v>98</c:v>
                </c:pt>
                <c:pt idx="4">
                  <c:v>97</c:v>
                </c:pt>
              </c:numCache>
            </c:numRef>
          </c:val>
        </c:ser>
        <c:dLbls>
          <c:numFmt formatCode="&quot;%&quot;0" sourceLinked="0"/>
          <c:txPr>
            <a:bodyPr/>
            <a:lstStyle/>
            <a:p>
              <a:pPr>
                <a:defRPr b="0" i="0" strike="noStrike" sz="1200" u="none">
                  <a:solidFill>
                    <a:srgbClr val="24345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4345C"/>
                </a:solidFill>
                <a:latin typeface="+mn-lt"/>
              </a:defRPr>
            </a:pPr>
            <a:endParaRPr lang="en-US"/>
          </a:p>
        </c:txPr>
        <c:crossAx val="2094734552"/>
        <c:crosses val="autoZero"/>
        <c:auto val="1"/>
        <c:lblAlgn val="ctr"/>
        <c:noMultiLvlLbl val="1"/>
      </c:catAx>
      <c:valAx>
        <c:axId val="2094734552"/>
        <c:scaling>
          <c:orientation val="minMax"/>
          <c:max val="11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243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AstroTutor AI: uzay ve astronomi eğitiminde seviyeye göre Türkçe anlatım yapan ve anlattığı içerikten soru üreten alana özel bir dil modeli. Vize döneminde model eğitmiyoruz; eğitime hazır iki veri seti hazırladık: CPT için Domain Corpus v1.0 ve SFT için Instruction Dataset v1.0.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Türkçe konuşan öğrencinin astronomiyi kendi seviyesinde öğrenebileceği, kaynağı izlenebilir bir yardımcı yok. Hedef model Qwen2.5-7B ailesi. Kapsam dışını bilerek sınırladık: ileri türetmeler, ham görüntü işleme, simülasyon, roket mühendisliği, astroloji.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veri kavramını ayırıyoruz. Corpus modele alanı öğretir (CPT), instruction seti görev yapmayı öğretir (SFT), değerlendirme setleri yalnız ölçer ve eğitime hiç girmez; bu dönemde yalnız sızıntı kontrolü için kullanıldı.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Hepsi açık lisanslı. İngilizce çoğunlukta çünkü alanın güvenilir ve açık lisanslı birincil kaynakları İngilizce; Türkçe Wikipedia terminoloji için eklendi (token'ların %16,9'u). Türkçe davranışı instruction seti kazandırır. NASA Exoplanet Archive bilerek alınmadı: sürekli değişen tablo verisi, final dönemde RAG kaynağı.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adım ayrı bir script; yollar, eşikler ve seed config.yaml'da. run_pipeline.py --all baştan sona yeniden üretir. Corpus'u sıfırdan yeniden ürettiğimizde dosyalar birebir aynı çıktı (md5 eşit). İndirme ve LLM üretimi kaldığı yerden devam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Sessiz bozulmalar: PDF'te varsayılan okuma sırası öğrenme hedefi kutusunu paragrafın ortasına karıştırıyordu; blokları sayfa konumuna göre sıraladık. Wikipedia düz metin servisi, trafilatura ve PyMuPDF üst simgeleri siliyordu; 747 dokümanda 1.934 ifade belirsizliği olmayan kalıplarla geri yazıldı (25 birim testi). NASA basın bültenlerindeki iletişim blokları silindi. Neden PyMuPDF: 40 sayfada pdfplumber ile eşit kalite, ~161 kat hızlı.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MinHash: 16 bin doküman için tüm çiftleri karşılaştırmak ~1,3 × 10^8 karşılaştırma; LSH yalnız aday çiftleri getiriyor. Neden 0,85: 50 aday çiftle doğruladık, eşik üstü 25 çiftin 25'i gerçek tekrar, hatalı eleme 0. Genel eşiği düşürmedik çünkü NASA'nın uydu sayfaları ortak şablona rağmen farklı uyduların bilgisini taşıyor (Jaccard 0,74'e kadar). APOD yeniden yayınları için iki ölçütlü ikinci geçiş ekledik; çiftten en yenisi tutuldu.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Pipeline'ın ne yaptığını tek slaytta: 17.520 ham dokümandan extraction sonrası 17.334, temizleme ve filtreden sonra 16.572, tekrar ayıklama ve ikinci geçişten sonra 16.284 doküman kaldı. Elenen her doküman nedeniyle removed_documents.csv ve extraction_failures.csv dosyalarında.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Corpus 16,2 milyon token; ortalama doküman 996, medyan 391 token. Alt konular dengeli: tek bir konu baskın değil. Türkçe pay %16,9. Ayrım doküman (grup) düzeyinde %90/5/5, seed 42; aynı Wikipedia maddesinin EN/TR sürümleri aynı kümede; chunk'lar bölmeden sonra üretildi. Neden 300 karakter alt sınırı: 300–500 aralığındaki 283 dokümanın 110'u değerli Türkçe madde; 500 seçseydik kaybolurdu.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Kategoriler tasarım raporundaki iki ana davranıştan türetildi: seviyeye göre anlatım ve anlatılan içerikten JSON biçiminde soru üretme (quiz modülü). Kapsam dışı türü uydurma yerine sınır bildirmeyi öğretir; özetleme İngilizce kaynağı Türkçe kullanıcıya aktarmayı öğretir (RAG senaryosu). Örnekler yalnız corpus'un train dokümanlarından üretildi. Üretim Gemini ücretsiz katmanı; her örnekte gerçek model ve prompt sürümü kayıtlı.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gerçek örnek, hepsi 150'lik incelemede uygun bulundu. Çoktan seçmeli örnekte öğretim metni talimatta; soru, şıklar ve doğru cevap yalnız cevaptaki JSON'da (talimatta soruyu vermek kural ihlali sayılıp elendi). Kapsam dışı örnek uydurmak yerine sınırını bildirip astronomiye yönlendiriyor.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LLM'in ürettiği cevabı doğru kabul etmedik. Kural kontrolleri bütün sette: Türkçe karakter, çoktan seçmeli şema ve sızıntı, görünmeyen metne atıf, tekrar, değerlendirme setleriyle örtüşme. Kanıt kontrolü: modelin kaynaktan aldığını söylediği alıntının kelime 5-gram'larının en az %60'ı kaynakta olmalı. Yargıç örneği üretenden farklı modeldi, sıcaklık 0. İncelemede bulunan kural açıklarını (ör. metinsiz soru, talimatta hazır soru) bütün sette kapattık.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Corpus: 100 rastgele doküman, kaynak oranında tabakalı; genel uygun %88 en katı ölçüm, sorunların yarısı yalnız alt konu etiketinde, metnin kendisinde sorun olan doküman %6. Instruction: 150 örnek, görev türü oranında; genel uygun %84, sorunlu 24 örnek setten çıkarıldı. En zayıf tür adım adım problem çözme. Yöntem: yapay zekâ destekli ön inceleme ölçüt bazında yapıldı, nihai kararı ben verdim.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problem karar günlüğünde (experiments.md) tarihiyle ve gerekçesiyle kayıtlı. Önemli olan, hataların çoğunu rastgele örnekleri elle okurken bulmamız ve düzeltmeyi bir örnek için değil kural olarak bütün sete uygulamamız.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Instruction v1.1: yargıcı örneklem dışındaki bütün lite üretimlerine genişletiyoruz (kod hazır ve test edildi, --extended). Sonra CPT: corpus 16,2 M token ve çoğunlukla İngilizce olduğu için düşük öğrenme hızı ve genel Türkçe metinle karıştırma. Ardından SFT ve üç sistemin karşılaştırılması. Son olarak RAG: güncel sayısal bilgiler (ör. ötegezegen sayısı) model ağırlıklarına değil RAG katmanına.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Rehber'in son sorusu: bu veri final döneminde modeli eğitmek için gerçekten kullanılabilir mi? Kanıtla evet: validate_datasets.py iki veri setini Hugging Face ile yüklüyor, instruction örneklerini Qwen2.5-7B-Instruct sohbet şablonuna hatasız uyguluyor (en uzun 971 token), kümeler arası ve değerlendirme setleriyle sızıntı 0, pipeline birebir yeniden üretilebiliyor. Teşekkürler; sorularınızı alabilirim.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2697480"/>
            <a:ext cx="10698480" cy="91440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AstroTutor AI · Vize Sunumu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731520" y="137160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AstroTutor AI</a:t>
            </a:r>
            <a:endParaRPr lang="en-US" sz="5400" dirty="0"/>
          </a:p>
        </p:txBody>
      </p:sp>
      <p:sp>
        <p:nvSpPr>
          <p:cNvPr id="4" name="Text 0"/>
          <p:cNvSpPr/>
          <p:nvPr>
            <p:ph idx="101" type="body" hasCustomPrompt="1"/>
          </p:nvPr>
        </p:nvSpPr>
        <p:spPr>
          <a:xfrm>
            <a:off x="731520" y="2697480"/>
            <a:ext cx="10698480" cy="914400"/>
          </a:xfrm>
          <a:prstGeom prst="rect">
            <a:avLst/>
          </a:prstGeom>
          <a:noFill/>
          <a:ln/>
        </p:spPr>
        <p:txBody>
          <a:bodyPr wrap="square" lIns="0" tIns="0" rIns="0" bIns="0" rtlCol="0" anchor="t"/>
          <a:lstStyle/>
          <a:p>
            <a:pPr indent="0" marL="0">
              <a:buNone/>
            </a:pPr>
            <a:r>
              <a:rPr lang="en-US" sz="2200" dirty="0">
                <a:solidFill>
                  <a:schemeClr val="accent5"/>
                </a:solidFill>
              </a:rPr>
              <a:t>Uzay ve Astronomi Eğitiminde SLM ve RAG Tabanlı Etkileşimli Öğrenme ve Test Sistemi — Vize: eğitime hazır iki veri seti</a:t>
            </a:r>
            <a:endParaRPr lang="en-US" sz="2200" dirty="0"/>
          </a:p>
        </p:txBody>
      </p:sp>
      <p:sp>
        <p:nvSpPr>
          <p:cNvPr id="5" name="Kapak sayı 1"/>
          <p:cNvSpPr txBox="1"/>
          <p:nvPr/>
        </p:nvSpPr>
        <p:spPr>
          <a:xfrm>
            <a:off x="731520" y="3977640"/>
            <a:ext cx="329184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16.284</a:t>
            </a:r>
            <a:endParaRPr lang="en-US" sz="4000" dirty="0"/>
          </a:p>
        </p:txBody>
      </p:sp>
      <p:sp>
        <p:nvSpPr>
          <p:cNvPr id="6" name="Kapak sayı 1 açıklama"/>
          <p:cNvSpPr txBox="1"/>
          <p:nvPr/>
        </p:nvSpPr>
        <p:spPr>
          <a:xfrm>
            <a:off x="731520" y="4754880"/>
            <a:ext cx="3291840" cy="457200"/>
          </a:xfrm>
          <a:prstGeom prst="rect">
            <a:avLst/>
          </a:prstGeom>
          <a:noFill/>
          <a:ln/>
        </p:spPr>
        <p:txBody>
          <a:bodyPr wrap="square" lIns="0" tIns="0" rIns="0" bIns="0" rtlCol="0" anchor="t"/>
          <a:lstStyle/>
          <a:p>
            <a:pPr indent="0" marL="0">
              <a:buNone/>
            </a:pPr>
            <a:r>
              <a:rPr lang="en-US" sz="1400" dirty="0">
                <a:solidFill>
                  <a:schemeClr val="accent5"/>
                </a:solidFill>
              </a:rPr>
              <a:t>temiz doküman · Domain Corpus v1.0</a:t>
            </a:r>
            <a:endParaRPr lang="en-US" sz="1400" dirty="0"/>
          </a:p>
        </p:txBody>
      </p:sp>
      <p:sp>
        <p:nvSpPr>
          <p:cNvPr id="7" name="Kapak sayı 2"/>
          <p:cNvSpPr txBox="1"/>
          <p:nvPr/>
        </p:nvSpPr>
        <p:spPr>
          <a:xfrm>
            <a:off x="4434840" y="3977640"/>
            <a:ext cx="329184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16,2 M</a:t>
            </a:r>
            <a:endParaRPr lang="en-US" sz="4000" dirty="0"/>
          </a:p>
        </p:txBody>
      </p:sp>
      <p:sp>
        <p:nvSpPr>
          <p:cNvPr id="8" name="Kapak sayı 2 açıklama"/>
          <p:cNvSpPr txBox="1"/>
          <p:nvPr/>
        </p:nvSpPr>
        <p:spPr>
          <a:xfrm>
            <a:off x="4434840" y="4754880"/>
            <a:ext cx="3291840" cy="457200"/>
          </a:xfrm>
          <a:prstGeom prst="rect">
            <a:avLst/>
          </a:prstGeom>
          <a:noFill/>
          <a:ln/>
        </p:spPr>
        <p:txBody>
          <a:bodyPr wrap="square" lIns="0" tIns="0" rIns="0" bIns="0" rtlCol="0" anchor="t"/>
          <a:lstStyle/>
          <a:p>
            <a:pPr indent="0" marL="0">
              <a:buNone/>
            </a:pPr>
            <a:r>
              <a:rPr lang="en-US" sz="1400" dirty="0">
                <a:solidFill>
                  <a:schemeClr val="accent5"/>
                </a:solidFill>
              </a:rPr>
              <a:t>token (Qwen2.5 tokenizer)</a:t>
            </a:r>
            <a:endParaRPr lang="en-US" sz="1400" dirty="0"/>
          </a:p>
        </p:txBody>
      </p:sp>
      <p:sp>
        <p:nvSpPr>
          <p:cNvPr id="9" name="Kapak sayı 3"/>
          <p:cNvSpPr txBox="1"/>
          <p:nvPr/>
        </p:nvSpPr>
        <p:spPr>
          <a:xfrm>
            <a:off x="8138160" y="3977640"/>
            <a:ext cx="329184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3.388</a:t>
            </a:r>
            <a:endParaRPr lang="en-US" sz="4000" dirty="0"/>
          </a:p>
        </p:txBody>
      </p:sp>
      <p:sp>
        <p:nvSpPr>
          <p:cNvPr id="10" name="Kapak sayı 3 açıklama"/>
          <p:cNvSpPr txBox="1"/>
          <p:nvPr/>
        </p:nvSpPr>
        <p:spPr>
          <a:xfrm>
            <a:off x="8138160" y="4754880"/>
            <a:ext cx="3291840" cy="457200"/>
          </a:xfrm>
          <a:prstGeom prst="rect">
            <a:avLst/>
          </a:prstGeom>
          <a:noFill/>
          <a:ln/>
        </p:spPr>
        <p:txBody>
          <a:bodyPr wrap="square" lIns="0" tIns="0" rIns="0" bIns="0" rtlCol="0" anchor="t"/>
          <a:lstStyle/>
          <a:p>
            <a:pPr indent="0" marL="0">
              <a:buNone/>
            </a:pPr>
            <a:r>
              <a:rPr lang="en-US" sz="1400" dirty="0">
                <a:solidFill>
                  <a:schemeClr val="accent5"/>
                </a:solidFill>
              </a:rPr>
              <a:t>Türkçe örnek · Instruction Dataset v1.0</a:t>
            </a:r>
            <a:endParaRPr lang="en-US" sz="1400" dirty="0"/>
          </a:p>
        </p:txBody>
      </p:sp>
      <p:sp>
        <p:nvSpPr>
          <p:cNvPr id="11" name="Hazırlayan"/>
          <p:cNvSpPr txBox="1"/>
          <p:nvPr/>
        </p:nvSpPr>
        <p:spPr>
          <a:xfrm>
            <a:off x="731520" y="5989320"/>
            <a:ext cx="10698480" cy="365760"/>
          </a:xfrm>
          <a:prstGeom prst="rect">
            <a:avLst/>
          </a:prstGeom>
          <a:noFill/>
          <a:ln/>
        </p:spPr>
        <p:txBody>
          <a:bodyPr wrap="square" lIns="0" tIns="0" rIns="0" bIns="0" rtlCol="0" anchor="t"/>
          <a:lstStyle/>
          <a:p>
            <a:pPr indent="0" marL="0">
              <a:buNone/>
            </a:pPr>
            <a:r>
              <a:rPr lang="en-US" sz="1600" dirty="0">
                <a:solidFill>
                  <a:schemeClr val="bg2"/>
                </a:solidFill>
              </a:rPr>
              <a:t>Eda GÖGEBAKAN (2211012069)  ·  Danışman: Asim Sinan YÜKSEL  ·  SDÜ Bilgisayar Mühendisliği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Alan ve amaç</a:t>
            </a:r>
            <a:endParaRPr lang="en-US" sz="3200" dirty="0"/>
          </a:p>
        </p:txBody>
      </p:sp>
      <p:sp>
        <p:nvSpPr>
          <p:cNvPr id="4" name="Problem ve hedef kartı"/>
          <p:cNvSpPr/>
          <p:nvPr/>
        </p:nvSpPr>
        <p:spPr>
          <a:xfrm>
            <a:off x="548640" y="1325880"/>
            <a:ext cx="5394960" cy="4800600"/>
          </a:xfrm>
          <a:prstGeom prst="roundRect">
            <a:avLst>
              <a:gd name="adj" fmla="val 2286"/>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5" name="Problem simgesi"/>
          <p:cNvSpPr/>
          <p:nvPr/>
        </p:nvSpPr>
        <p:spPr>
          <a:xfrm>
            <a:off x="822960" y="1600200"/>
            <a:ext cx="502920" cy="502920"/>
          </a:xfrm>
          <a:prstGeom prst="ellipse">
            <a:avLst/>
          </a:prstGeom>
          <a:solidFill>
            <a:schemeClr val="accent1"/>
          </a:solidFill>
          <a:ln w="12700">
            <a:solidFill>
              <a:schemeClr val="accent1"/>
            </a:solidFill>
            <a:prstDash val="solid"/>
          </a:ln>
        </p:spPr>
      </p:sp>
      <p:sp>
        <p:nvSpPr>
          <p:cNvPr id="6" name="Problem simgesi etiket"/>
          <p:cNvSpPr txBox="1"/>
          <p:nvPr/>
        </p:nvSpPr>
        <p:spPr>
          <a:xfrm>
            <a:off x="822960" y="160020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7" name="Problem başlık"/>
          <p:cNvSpPr txBox="1"/>
          <p:nvPr/>
        </p:nvSpPr>
        <p:spPr>
          <a:xfrm>
            <a:off x="1463040" y="1645920"/>
            <a:ext cx="420624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Problem</a:t>
            </a:r>
            <a:endParaRPr lang="en-US" sz="2200" dirty="0"/>
          </a:p>
        </p:txBody>
      </p:sp>
      <p:sp>
        <p:nvSpPr>
          <p:cNvPr id="8" name="Problem metni"/>
          <p:cNvSpPr txBox="1"/>
          <p:nvPr/>
        </p:nvSpPr>
        <p:spPr>
          <a:xfrm>
            <a:off x="822960" y="2194560"/>
            <a:ext cx="4846320" cy="1463040"/>
          </a:xfrm>
          <a:prstGeom prst="rect">
            <a:avLst/>
          </a:prstGeom>
          <a:noFill/>
          <a:ln/>
        </p:spPr>
        <p:txBody>
          <a:bodyPr wrap="square" lIns="0" tIns="0" rIns="0" bIns="0" rtlCol="0" anchor="t"/>
          <a:lstStyle/>
          <a:p>
            <a:pPr indent="0" marL="0">
              <a:buNone/>
            </a:pPr>
            <a:r>
              <a:rPr lang="en-US" sz="1600" dirty="0">
                <a:solidFill>
                  <a:schemeClr val="tx1"/>
                </a:solidFill>
              </a:rPr>
              <a:t>Türkçe konuşan öğrencinin uzay ve astronomiyi kendi seviyesinde öğrenebileceği, anlatılan içerikten soru üreterek öğrenmeyi ölçen ve kaynağı izlenebilir bir yardımcı yok.</a:t>
            </a:r>
            <a:endParaRPr lang="en-US" sz="1600" dirty="0"/>
          </a:p>
        </p:txBody>
      </p:sp>
      <p:sp>
        <p:nvSpPr>
          <p:cNvPr id="9" name="Hedef simgesi"/>
          <p:cNvSpPr/>
          <p:nvPr/>
        </p:nvSpPr>
        <p:spPr>
          <a:xfrm>
            <a:off x="822960" y="3749040"/>
            <a:ext cx="502920" cy="502920"/>
          </a:xfrm>
          <a:prstGeom prst="ellipse">
            <a:avLst/>
          </a:prstGeom>
          <a:solidFill>
            <a:schemeClr val="accent1"/>
          </a:solidFill>
          <a:ln w="12700">
            <a:solidFill>
              <a:schemeClr val="accent1"/>
            </a:solidFill>
            <a:prstDash val="solid"/>
          </a:ln>
        </p:spPr>
      </p:sp>
      <p:sp>
        <p:nvSpPr>
          <p:cNvPr id="10" name="Hedef simgesi etiket"/>
          <p:cNvSpPr txBox="1"/>
          <p:nvPr/>
        </p:nvSpPr>
        <p:spPr>
          <a:xfrm>
            <a:off x="822960" y="374904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11" name="Hedef başlık"/>
          <p:cNvSpPr txBox="1"/>
          <p:nvPr/>
        </p:nvSpPr>
        <p:spPr>
          <a:xfrm>
            <a:off x="1463040" y="3794760"/>
            <a:ext cx="420624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Hedef</a:t>
            </a:r>
            <a:endParaRPr lang="en-US" sz="2200" dirty="0"/>
          </a:p>
        </p:txBody>
      </p:sp>
      <p:sp>
        <p:nvSpPr>
          <p:cNvPr id="12" name="Hedef metni"/>
          <p:cNvSpPr txBox="1"/>
          <p:nvPr/>
        </p:nvSpPr>
        <p:spPr>
          <a:xfrm>
            <a:off x="822960" y="4343400"/>
            <a:ext cx="4846320" cy="1463040"/>
          </a:xfrm>
          <a:prstGeom prst="rect">
            <a:avLst/>
          </a:prstGeom>
          <a:noFill/>
          <a:ln/>
        </p:spPr>
        <p:txBody>
          <a:bodyPr wrap="square" lIns="0" tIns="0" rIns="0" bIns="0" rtlCol="0" anchor="t"/>
          <a:lstStyle/>
          <a:p>
            <a:pPr indent="0" marL="0">
              <a:buNone/>
            </a:pPr>
            <a:r>
              <a:rPr lang="en-US" sz="1600" dirty="0">
                <a:solidFill>
                  <a:schemeClr val="tx1"/>
                </a:solidFill>
              </a:rPr>
              <a:t>Başlangıç / orta / ileri seviyeye göre Türkçe konu anlatan ve anlattığı içerikten 4 seçenekli soru üreten alana özel model (ana aday: Qwen2.5-7B).</a:t>
            </a:r>
            <a:endParaRPr lang="en-US" sz="1600" dirty="0"/>
          </a:p>
        </p:txBody>
      </p:sp>
      <p:sp>
        <p:nvSpPr>
          <p:cNvPr id="13" name="Kapsam içi başlık"/>
          <p:cNvSpPr txBox="1"/>
          <p:nvPr/>
        </p:nvSpPr>
        <p:spPr>
          <a:xfrm>
            <a:off x="6309360" y="1325880"/>
            <a:ext cx="5303520" cy="41148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Kapsam içi</a:t>
            </a:r>
            <a:endParaRPr lang="en-US" sz="2200" dirty="0"/>
          </a:p>
        </p:txBody>
      </p:sp>
      <p:sp>
        <p:nvSpPr>
          <p:cNvPr id="14" name="Kapsam içi liste"/>
          <p:cNvSpPr txBox="1"/>
          <p:nvPr/>
        </p:nvSpPr>
        <p:spPr>
          <a:xfrm>
            <a:off x="6309360" y="1828800"/>
            <a:ext cx="5303520" cy="19202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Güneş Sistemi, gezegenler ve uydular</a:t>
            </a:r>
            <a:endParaRPr lang="en-US" sz="1600" dirty="0"/>
          </a:p>
          <a:p>
            <a:pPr marL="342900" indent="-342900">
              <a:spcAft>
                <a:spcPts val="600"/>
              </a:spcAft>
              <a:buSzPct val="100000"/>
              <a:buChar char="•"/>
            </a:pPr>
            <a:r>
              <a:rPr lang="en-US" sz="1600" dirty="0">
                <a:solidFill>
                  <a:schemeClr val="tx1"/>
                </a:solidFill>
              </a:rPr>
              <a:t>Yıldızlar ve yıldız evrimi, gökadalar</a:t>
            </a:r>
            <a:endParaRPr lang="en-US" sz="1600" dirty="0"/>
          </a:p>
          <a:p>
            <a:pPr marL="342900" indent="-342900">
              <a:spcAft>
                <a:spcPts val="600"/>
              </a:spcAft>
              <a:buSzPct val="100000"/>
              <a:buChar char="•"/>
            </a:pPr>
            <a:r>
              <a:rPr lang="en-US" sz="1600" dirty="0">
                <a:solidFill>
                  <a:schemeClr val="tx1"/>
                </a:solidFill>
              </a:rPr>
              <a:t>Temel kozmoloji, ötegezegenler</a:t>
            </a:r>
            <a:endParaRPr lang="en-US" sz="1600" dirty="0"/>
          </a:p>
          <a:p>
            <a:pPr marL="342900" indent="-342900">
              <a:spcAft>
                <a:spcPts val="600"/>
              </a:spcAft>
              <a:buSzPct val="100000"/>
              <a:buChar char="•"/>
            </a:pPr>
            <a:r>
              <a:rPr lang="en-US" sz="1600" dirty="0">
                <a:solidFill>
                  <a:schemeClr val="tx1"/>
                </a:solidFill>
              </a:rPr>
              <a:t>Uzay araçları ve görevler, gözlemevleri</a:t>
            </a:r>
            <a:endParaRPr lang="en-US" sz="1600" dirty="0"/>
          </a:p>
        </p:txBody>
      </p:sp>
      <p:sp>
        <p:nvSpPr>
          <p:cNvPr id="15" name="Kapsam dışı başlık"/>
          <p:cNvSpPr txBox="1"/>
          <p:nvPr/>
        </p:nvSpPr>
        <p:spPr>
          <a:xfrm>
            <a:off x="6309360" y="3886200"/>
            <a:ext cx="5303520" cy="41148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Kapsam dışı</a:t>
            </a:r>
            <a:endParaRPr lang="en-US" sz="2200" dirty="0"/>
          </a:p>
        </p:txBody>
      </p:sp>
      <p:sp>
        <p:nvSpPr>
          <p:cNvPr id="16" name="Kapsam dışı liste"/>
          <p:cNvSpPr txBox="1"/>
          <p:nvPr/>
        </p:nvSpPr>
        <p:spPr>
          <a:xfrm>
            <a:off x="6309360" y="4389120"/>
            <a:ext cx="530352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İleri matematiksel türetmeler, simülasyon</a:t>
            </a:r>
            <a:endParaRPr lang="en-US" sz="1600" dirty="0"/>
          </a:p>
          <a:p>
            <a:pPr marL="342900" indent="-342900">
              <a:spcAft>
                <a:spcPts val="600"/>
              </a:spcAft>
              <a:buSzPct val="100000"/>
              <a:buChar char="•"/>
            </a:pPr>
            <a:r>
              <a:rPr lang="en-US" sz="1600" dirty="0">
                <a:solidFill>
                  <a:schemeClr val="tx1"/>
                </a:solidFill>
              </a:rPr>
              <a:t>Ham teleskop görüntüsü işleme</a:t>
            </a:r>
            <a:endParaRPr lang="en-US" sz="1600" dirty="0"/>
          </a:p>
          <a:p>
            <a:pPr marL="342900" indent="-342900">
              <a:spcAft>
                <a:spcPts val="600"/>
              </a:spcAft>
              <a:buSzPct val="100000"/>
              <a:buChar char="•"/>
            </a:pPr>
            <a:r>
              <a:rPr lang="en-US" sz="1600" dirty="0">
                <a:solidFill>
                  <a:schemeClr val="tx1"/>
                </a:solidFill>
              </a:rPr>
              <a:t>Roket mühendisliği, ticari konular, astroloji</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Veri ihtiyacı: üç ayrı rol</a:t>
            </a:r>
            <a:endParaRPr lang="en-US" sz="3200" dirty="0"/>
          </a:p>
        </p:txBody>
      </p:sp>
      <p:sp>
        <p:nvSpPr>
          <p:cNvPr id="4" name="İhtiyaç kartı 1"/>
          <p:cNvSpPr/>
          <p:nvPr/>
        </p:nvSpPr>
        <p:spPr>
          <a:xfrm>
            <a:off x="548640" y="1417320"/>
            <a:ext cx="3520440" cy="384048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5" name="İhtiyaç numarası 1"/>
          <p:cNvSpPr/>
          <p:nvPr/>
        </p:nvSpPr>
        <p:spPr>
          <a:xfrm>
            <a:off x="868680" y="1737360"/>
            <a:ext cx="640080" cy="640080"/>
          </a:xfrm>
          <a:prstGeom prst="ellipse">
            <a:avLst/>
          </a:prstGeom>
          <a:solidFill>
            <a:schemeClr val="accent1"/>
          </a:solidFill>
          <a:ln w="12700">
            <a:solidFill>
              <a:schemeClr val="accent1"/>
            </a:solidFill>
            <a:prstDash val="solid"/>
          </a:ln>
        </p:spPr>
      </p:sp>
      <p:sp>
        <p:nvSpPr>
          <p:cNvPr id="6" name="İhtiyaç numarası 1 etiket"/>
          <p:cNvSpPr txBox="1"/>
          <p:nvPr/>
        </p:nvSpPr>
        <p:spPr>
          <a:xfrm>
            <a:off x="868680" y="173736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7" name="İhtiyaç başlık 1"/>
          <p:cNvSpPr txBox="1"/>
          <p:nvPr/>
        </p:nvSpPr>
        <p:spPr>
          <a:xfrm>
            <a:off x="868680" y="2560320"/>
            <a:ext cx="292608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Domain Corpus v1.0</a:t>
            </a:r>
            <a:endParaRPr lang="en-US" sz="2200" dirty="0"/>
          </a:p>
        </p:txBody>
      </p:sp>
      <p:sp>
        <p:nvSpPr>
          <p:cNvPr id="8" name="İhtiyaç etiket 1"/>
          <p:cNvSpPr txBox="1"/>
          <p:nvPr/>
        </p:nvSpPr>
        <p:spPr>
          <a:xfrm>
            <a:off x="868680" y="3383280"/>
            <a:ext cx="2926080" cy="365760"/>
          </a:xfrm>
          <a:prstGeom prst="rect">
            <a:avLst/>
          </a:prstGeom>
          <a:noFill/>
          <a:ln/>
        </p:spPr>
        <p:txBody>
          <a:bodyPr wrap="square" lIns="0" tIns="0" rIns="0" bIns="0" rtlCol="0" anchor="t"/>
          <a:lstStyle/>
          <a:p>
            <a:pPr indent="0" marL="0">
              <a:buNone/>
            </a:pPr>
            <a:r>
              <a:rPr lang="en-US" sz="1600" b="1" dirty="0">
                <a:solidFill>
                  <a:schemeClr val="accent1"/>
                </a:solidFill>
              </a:rPr>
              <a:t>CPT / DAPT</a:t>
            </a:r>
            <a:endParaRPr lang="en-US" sz="1600" dirty="0"/>
          </a:p>
        </p:txBody>
      </p:sp>
      <p:sp>
        <p:nvSpPr>
          <p:cNvPr id="9" name="İhtiyaç metin 1"/>
          <p:cNvSpPr txBox="1"/>
          <p:nvPr/>
        </p:nvSpPr>
        <p:spPr>
          <a:xfrm>
            <a:off x="868680" y="3840480"/>
            <a:ext cx="2926080" cy="1828800"/>
          </a:xfrm>
          <a:prstGeom prst="rect">
            <a:avLst/>
          </a:prstGeom>
          <a:noFill/>
          <a:ln/>
        </p:spPr>
        <p:txBody>
          <a:bodyPr wrap="square" lIns="0" tIns="0" rIns="0" bIns="0" rtlCol="0" anchor="t"/>
          <a:lstStyle/>
          <a:p>
            <a:pPr indent="0" marL="0">
              <a:buNone/>
            </a:pPr>
            <a:r>
              <a:rPr lang="en-US" sz="1600" dirty="0">
                <a:solidFill>
                  <a:schemeClr val="tx1"/>
                </a:solidFill>
              </a:rPr>
              <a:t>Alanın dili ve bilgisi: düz metin. Model astronomi terimlerini ve bilgi örüntüsünü öğrenir.</a:t>
            </a:r>
            <a:endParaRPr lang="en-US" sz="1600" dirty="0"/>
          </a:p>
        </p:txBody>
      </p:sp>
      <p:sp>
        <p:nvSpPr>
          <p:cNvPr id="10" name="İhtiyaç kartı 2"/>
          <p:cNvSpPr/>
          <p:nvPr/>
        </p:nvSpPr>
        <p:spPr>
          <a:xfrm>
            <a:off x="4297680" y="1417320"/>
            <a:ext cx="3520440" cy="384048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11" name="İhtiyaç numarası 2"/>
          <p:cNvSpPr/>
          <p:nvPr/>
        </p:nvSpPr>
        <p:spPr>
          <a:xfrm>
            <a:off x="4617720" y="1737360"/>
            <a:ext cx="640080" cy="640080"/>
          </a:xfrm>
          <a:prstGeom prst="ellipse">
            <a:avLst/>
          </a:prstGeom>
          <a:solidFill>
            <a:schemeClr val="accent2"/>
          </a:solidFill>
          <a:ln w="12700">
            <a:solidFill>
              <a:schemeClr val="accent2"/>
            </a:solidFill>
            <a:prstDash val="solid"/>
          </a:ln>
        </p:spPr>
      </p:sp>
      <p:sp>
        <p:nvSpPr>
          <p:cNvPr id="12" name="İhtiyaç numarası 2 etiket"/>
          <p:cNvSpPr txBox="1"/>
          <p:nvPr/>
        </p:nvSpPr>
        <p:spPr>
          <a:xfrm>
            <a:off x="4617720" y="173736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3" name="İhtiyaç başlık 2"/>
          <p:cNvSpPr txBox="1"/>
          <p:nvPr/>
        </p:nvSpPr>
        <p:spPr>
          <a:xfrm>
            <a:off x="4617720" y="2560320"/>
            <a:ext cx="292608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Instruction Dataset v1.0</a:t>
            </a:r>
            <a:endParaRPr lang="en-US" sz="2200" dirty="0"/>
          </a:p>
        </p:txBody>
      </p:sp>
      <p:sp>
        <p:nvSpPr>
          <p:cNvPr id="14" name="İhtiyaç etiket 2"/>
          <p:cNvSpPr txBox="1"/>
          <p:nvPr/>
        </p:nvSpPr>
        <p:spPr>
          <a:xfrm>
            <a:off x="4617720" y="3383280"/>
            <a:ext cx="2926080" cy="365760"/>
          </a:xfrm>
          <a:prstGeom prst="rect">
            <a:avLst/>
          </a:prstGeom>
          <a:noFill/>
          <a:ln/>
        </p:spPr>
        <p:txBody>
          <a:bodyPr wrap="square" lIns="0" tIns="0" rIns="0" bIns="0" rtlCol="0" anchor="t"/>
          <a:lstStyle/>
          <a:p>
            <a:pPr indent="0" marL="0">
              <a:buNone/>
            </a:pPr>
            <a:r>
              <a:rPr lang="en-US" sz="1600" b="1" dirty="0">
                <a:solidFill>
                  <a:schemeClr val="accent2"/>
                </a:solidFill>
              </a:rPr>
              <a:t>SFT (QLoRA)</a:t>
            </a:r>
            <a:endParaRPr lang="en-US" sz="1600" dirty="0"/>
          </a:p>
        </p:txBody>
      </p:sp>
      <p:sp>
        <p:nvSpPr>
          <p:cNvPr id="15" name="İhtiyaç metin 2"/>
          <p:cNvSpPr txBox="1"/>
          <p:nvPr/>
        </p:nvSpPr>
        <p:spPr>
          <a:xfrm>
            <a:off x="4617720" y="3840480"/>
            <a:ext cx="2926080" cy="1828800"/>
          </a:xfrm>
          <a:prstGeom prst="rect">
            <a:avLst/>
          </a:prstGeom>
          <a:noFill/>
          <a:ln/>
        </p:spPr>
        <p:txBody>
          <a:bodyPr wrap="square" lIns="0" tIns="0" rIns="0" bIns="0" rtlCol="0" anchor="t"/>
          <a:lstStyle/>
          <a:p>
            <a:pPr indent="0" marL="0">
              <a:buNone/>
            </a:pPr>
            <a:r>
              <a:rPr lang="en-US" sz="1600" dirty="0">
                <a:solidFill>
                  <a:schemeClr val="tx1"/>
                </a:solidFill>
              </a:rPr>
              <a:t>Türkçe talimat takibi, seviyeye göre anlatım, JSON biçiminde soru üretme, kapsam dışında sınır bildirme.</a:t>
            </a:r>
            <a:endParaRPr lang="en-US" sz="1600" dirty="0"/>
          </a:p>
        </p:txBody>
      </p:sp>
      <p:sp>
        <p:nvSpPr>
          <p:cNvPr id="16" name="İhtiyaç kartı 3"/>
          <p:cNvSpPr/>
          <p:nvPr/>
        </p:nvSpPr>
        <p:spPr>
          <a:xfrm>
            <a:off x="8046720" y="1417320"/>
            <a:ext cx="3520440" cy="384048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17" name="İhtiyaç numarası 3"/>
          <p:cNvSpPr/>
          <p:nvPr/>
        </p:nvSpPr>
        <p:spPr>
          <a:xfrm>
            <a:off x="8366760" y="1737360"/>
            <a:ext cx="640080" cy="640080"/>
          </a:xfrm>
          <a:prstGeom prst="ellipse">
            <a:avLst/>
          </a:prstGeom>
          <a:solidFill>
            <a:schemeClr val="accent3"/>
          </a:solidFill>
          <a:ln w="12700">
            <a:solidFill>
              <a:schemeClr val="accent3"/>
            </a:solidFill>
            <a:prstDash val="solid"/>
          </a:ln>
        </p:spPr>
      </p:sp>
      <p:sp>
        <p:nvSpPr>
          <p:cNvPr id="18" name="İhtiyaç numarası 3 etiket"/>
          <p:cNvSpPr txBox="1"/>
          <p:nvPr/>
        </p:nvSpPr>
        <p:spPr>
          <a:xfrm>
            <a:off x="8366760" y="173736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9" name="İhtiyaç başlık 3"/>
          <p:cNvSpPr txBox="1"/>
          <p:nvPr/>
        </p:nvSpPr>
        <p:spPr>
          <a:xfrm>
            <a:off x="8366760" y="2560320"/>
            <a:ext cx="292608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Değerlendirme setleri</a:t>
            </a:r>
            <a:endParaRPr lang="en-US" sz="2200" dirty="0"/>
          </a:p>
        </p:txBody>
      </p:sp>
      <p:sp>
        <p:nvSpPr>
          <p:cNvPr id="20" name="İhtiyaç etiket 3"/>
          <p:cNvSpPr txBox="1"/>
          <p:nvPr/>
        </p:nvSpPr>
        <p:spPr>
          <a:xfrm>
            <a:off x="8366760" y="3383280"/>
            <a:ext cx="2926080" cy="365760"/>
          </a:xfrm>
          <a:prstGeom prst="rect">
            <a:avLst/>
          </a:prstGeom>
          <a:noFill/>
          <a:ln/>
        </p:spPr>
        <p:txBody>
          <a:bodyPr wrap="square" lIns="0" tIns="0" rIns="0" bIns="0" rtlCol="0" anchor="t"/>
          <a:lstStyle/>
          <a:p>
            <a:pPr indent="0" marL="0">
              <a:buNone/>
            </a:pPr>
            <a:r>
              <a:rPr lang="en-US" sz="1600" b="1" dirty="0">
                <a:solidFill>
                  <a:schemeClr val="accent3"/>
                </a:solidFill>
              </a:rPr>
              <a:t>eğitime girmez</a:t>
            </a:r>
            <a:endParaRPr lang="en-US" sz="1600" dirty="0"/>
          </a:p>
        </p:txBody>
      </p:sp>
      <p:sp>
        <p:nvSpPr>
          <p:cNvPr id="21" name="İhtiyaç metin 3"/>
          <p:cNvSpPr txBox="1"/>
          <p:nvPr/>
        </p:nvSpPr>
        <p:spPr>
          <a:xfrm>
            <a:off x="8366760" y="3840480"/>
            <a:ext cx="2926080" cy="1828800"/>
          </a:xfrm>
          <a:prstGeom prst="rect">
            <a:avLst/>
          </a:prstGeom>
          <a:noFill/>
          <a:ln/>
        </p:spPr>
        <p:txBody>
          <a:bodyPr wrap="square" lIns="0" tIns="0" rIns="0" bIns="0" rtlCol="0" anchor="t"/>
          <a:lstStyle/>
          <a:p>
            <a:pPr indent="0" marL="0">
              <a:buNone/>
            </a:pPr>
            <a:r>
              <a:rPr lang="en-US" sz="1600" dirty="0">
                <a:solidFill>
                  <a:schemeClr val="tx1"/>
                </a:solidFill>
              </a:rPr>
              <a:t>Astro-mcqa, astro-mcq, Hubble MCQ, Astrobench: final dönemi karşılaştırması; şimdilik yalnız sızıntı kontrolü.</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Veri kaynakları</a:t>
            </a:r>
            <a:endParaRPr lang="en-US" sz="3200" dirty="0"/>
          </a:p>
        </p:txBody>
      </p:sp>
      <p:graphicFrame>
        <p:nvGraphicFramePr>
          <p:cNvPr id="5" name="Kaynak tablosu"/>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1188720"/>
                <a:gridCol w="640080"/>
                <a:gridCol w="1828800"/>
                <a:gridCol w="2011680"/>
                <a:gridCol w="320040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Kaynak</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Tür</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Dil</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Ham → final</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Lisans</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Neden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6"/>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NASA Science</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HTML</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3.109 → 2.849</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NASA yönergeleri</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Birincil kaynak; görev başına ≤150 sayfa</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NASA APOD</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HTML</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2.720 → 2.445</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NASA (yalnız metin)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Popüler bilim dili; yıl başına 85</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OpenStax Astronomy 2e</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PDF</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243 → 238</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CC BY-NC-SA 4.0</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Hakemli ders kitabı; PDF extraction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arXiv astro-ph</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XML</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6.000 → 5.953</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CC0 (metadata)</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İleri terminoloji (başlık + özet)</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Wikipedia EN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API</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3.576 → 3.238</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CC BY-SA 4.0</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Ansiklopedik kapsam</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Wikipedia TR</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API</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tr</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1.737 → 1.561</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CC BY-SA 4.0</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Türkçe terminoloji</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Stack Exchange</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HF veri seti</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33.519 → 449 soru</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CC BY-SA 4.0</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Yalnız instruction (gerçek sorular)</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bl>
          </a:graphicData>
        </a:graphic>
      </p:graphicFrame>
      <p:sp>
        <p:nvSpPr>
          <p:cNvPr id="5" name="Kaynak notu"/>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500" dirty="0">
                <a:solidFill>
                  <a:schemeClr val="tx2"/>
                </a:solidFill>
              </a:rPr>
              <a:t>Toplam 17.520 ham doküman → 16.284 final. robots.txt ve hız sınırlarına uyuldu; her ham dosyanın adresi, SHA-256'sı, tarihi ve lisansı kayıtlı.</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Pipeline: her adım ayrı script</a:t>
            </a:r>
            <a:endParaRPr lang="en-US" sz="3200" dirty="0"/>
          </a:p>
        </p:txBody>
      </p:sp>
      <p:sp>
        <p:nvSpPr>
          <p:cNvPr id="4" name="Pipeline corpus başlık"/>
          <p:cNvSpPr txBox="1"/>
          <p:nvPr/>
        </p:nvSpPr>
        <p:spPr>
          <a:xfrm>
            <a:off x="548640" y="1325880"/>
            <a:ext cx="5486400" cy="411480"/>
          </a:xfrm>
          <a:prstGeom prst="rect">
            <a:avLst/>
          </a:prstGeom>
          <a:noFill/>
          <a:ln/>
        </p:spPr>
        <p:txBody>
          <a:bodyPr wrap="square" lIns="0" tIns="0" rIns="0" bIns="0" rtlCol="0" anchor="t"/>
          <a:lstStyle/>
          <a:p>
            <a:pPr indent="0" marL="0">
              <a:buNone/>
            </a:pPr>
            <a:r>
              <a:rPr lang="en-US" sz="2000" b="1" dirty="0">
                <a:solidFill>
                  <a:schemeClr val="accent6"/>
                </a:solidFill>
                <a:latin typeface="Cambria" pitchFamily="34" charset="0"/>
                <a:ea typeface="Cambria" pitchFamily="34" charset="-122"/>
                <a:cs typeface="Cambria" pitchFamily="34" charset="-120"/>
              </a:rPr>
              <a:t>Domain Corpus</a:t>
            </a:r>
            <a:endParaRPr lang="en-US" sz="2000" dirty="0"/>
          </a:p>
        </p:txBody>
      </p:sp>
      <p:sp>
        <p:nvSpPr>
          <p:cNvPr id="5" name="Corpus adım 01"/>
          <p:cNvSpPr/>
          <p:nvPr/>
        </p:nvSpPr>
        <p:spPr>
          <a:xfrm>
            <a:off x="822960" y="1874520"/>
            <a:ext cx="640080" cy="640080"/>
          </a:xfrm>
          <a:prstGeom prst="ellipse">
            <a:avLst/>
          </a:prstGeom>
          <a:solidFill>
            <a:schemeClr val="accent1"/>
          </a:solidFill>
          <a:ln w="12700">
            <a:solidFill>
              <a:schemeClr val="accent1"/>
            </a:solidFill>
            <a:prstDash val="solid"/>
          </a:ln>
        </p:spPr>
      </p:sp>
      <p:sp>
        <p:nvSpPr>
          <p:cNvPr id="6" name="Corpus adım 01 etiket"/>
          <p:cNvSpPr txBox="1"/>
          <p:nvPr/>
        </p:nvSpPr>
        <p:spPr>
          <a:xfrm>
            <a:off x="822960" y="187452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01</a:t>
            </a:r>
            <a:endParaRPr lang="en-US" sz="1600" dirty="0"/>
          </a:p>
        </p:txBody>
      </p:sp>
      <p:sp>
        <p:nvSpPr>
          <p:cNvPr id="7" name="Corpus adım adı 01"/>
          <p:cNvSpPr txBox="1"/>
          <p:nvPr/>
        </p:nvSpPr>
        <p:spPr>
          <a:xfrm>
            <a:off x="502920" y="2606040"/>
            <a:ext cx="1280160" cy="457200"/>
          </a:xfrm>
          <a:prstGeom prst="rect">
            <a:avLst/>
          </a:prstGeom>
          <a:noFill/>
          <a:ln/>
        </p:spPr>
        <p:txBody>
          <a:bodyPr wrap="square" lIns="0" tIns="0" rIns="0" bIns="0" rtlCol="0" anchor="t"/>
          <a:lstStyle/>
          <a:p>
            <a:pPr algn="ctr" indent="0" marL="0">
              <a:buNone/>
            </a:pPr>
            <a:r>
              <a:rPr lang="en-US" sz="1400" dirty="0">
                <a:solidFill>
                  <a:schemeClr val="tx1"/>
                </a:solidFill>
              </a:rPr>
              <a:t>İndirme</a:t>
            </a:r>
            <a:endParaRPr lang="en-US" sz="1400" dirty="0"/>
          </a:p>
        </p:txBody>
      </p:sp>
      <p:sp>
        <p:nvSpPr>
          <p:cNvPr id="8" name="Corpus adım 02"/>
          <p:cNvSpPr/>
          <p:nvPr/>
        </p:nvSpPr>
        <p:spPr>
          <a:xfrm>
            <a:off x="2057400" y="1874520"/>
            <a:ext cx="640080" cy="640080"/>
          </a:xfrm>
          <a:prstGeom prst="ellipse">
            <a:avLst/>
          </a:prstGeom>
          <a:solidFill>
            <a:schemeClr val="accent1"/>
          </a:solidFill>
          <a:ln w="12700">
            <a:solidFill>
              <a:schemeClr val="accent1"/>
            </a:solidFill>
            <a:prstDash val="solid"/>
          </a:ln>
        </p:spPr>
      </p:sp>
      <p:sp>
        <p:nvSpPr>
          <p:cNvPr id="9" name="Corpus adım 02 etiket"/>
          <p:cNvSpPr txBox="1"/>
          <p:nvPr/>
        </p:nvSpPr>
        <p:spPr>
          <a:xfrm>
            <a:off x="2057400" y="187452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02</a:t>
            </a:r>
            <a:endParaRPr lang="en-US" sz="1600" dirty="0"/>
          </a:p>
        </p:txBody>
      </p:sp>
      <p:sp>
        <p:nvSpPr>
          <p:cNvPr id="10" name="Corpus adım adı 02"/>
          <p:cNvSpPr txBox="1"/>
          <p:nvPr/>
        </p:nvSpPr>
        <p:spPr>
          <a:xfrm>
            <a:off x="1737360" y="2606040"/>
            <a:ext cx="1280160" cy="457200"/>
          </a:xfrm>
          <a:prstGeom prst="rect">
            <a:avLst/>
          </a:prstGeom>
          <a:noFill/>
          <a:ln/>
        </p:spPr>
        <p:txBody>
          <a:bodyPr wrap="square" lIns="0" tIns="0" rIns="0" bIns="0" rtlCol="0" anchor="t"/>
          <a:lstStyle/>
          <a:p>
            <a:pPr algn="ctr" indent="0" marL="0">
              <a:buNone/>
            </a:pPr>
            <a:r>
              <a:rPr lang="en-US" sz="1400" dirty="0">
                <a:solidFill>
                  <a:schemeClr val="tx1"/>
                </a:solidFill>
              </a:rPr>
              <a:t>Extraction</a:t>
            </a:r>
            <a:endParaRPr lang="en-US" sz="1400" dirty="0"/>
          </a:p>
        </p:txBody>
      </p:sp>
      <p:sp>
        <p:nvSpPr>
          <p:cNvPr id="11" name="Corpus adım 03"/>
          <p:cNvSpPr/>
          <p:nvPr/>
        </p:nvSpPr>
        <p:spPr>
          <a:xfrm>
            <a:off x="3291840" y="1874520"/>
            <a:ext cx="640080" cy="640080"/>
          </a:xfrm>
          <a:prstGeom prst="ellipse">
            <a:avLst/>
          </a:prstGeom>
          <a:solidFill>
            <a:schemeClr val="accent1"/>
          </a:solidFill>
          <a:ln w="12700">
            <a:solidFill>
              <a:schemeClr val="accent1"/>
            </a:solidFill>
            <a:prstDash val="solid"/>
          </a:ln>
        </p:spPr>
      </p:sp>
      <p:sp>
        <p:nvSpPr>
          <p:cNvPr id="12" name="Corpus adım 03 etiket"/>
          <p:cNvSpPr txBox="1"/>
          <p:nvPr/>
        </p:nvSpPr>
        <p:spPr>
          <a:xfrm>
            <a:off x="3291840" y="187452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03</a:t>
            </a:r>
            <a:endParaRPr lang="en-US" sz="1600" dirty="0"/>
          </a:p>
        </p:txBody>
      </p:sp>
      <p:sp>
        <p:nvSpPr>
          <p:cNvPr id="13" name="Corpus adım adı 03"/>
          <p:cNvSpPr txBox="1"/>
          <p:nvPr/>
        </p:nvSpPr>
        <p:spPr>
          <a:xfrm>
            <a:off x="2971800" y="2606040"/>
            <a:ext cx="1280160" cy="457200"/>
          </a:xfrm>
          <a:prstGeom prst="rect">
            <a:avLst/>
          </a:prstGeom>
          <a:noFill/>
          <a:ln/>
        </p:spPr>
        <p:txBody>
          <a:bodyPr wrap="square" lIns="0" tIns="0" rIns="0" bIns="0" rtlCol="0" anchor="t"/>
          <a:lstStyle/>
          <a:p>
            <a:pPr algn="ctr" indent="0" marL="0">
              <a:buNone/>
            </a:pPr>
            <a:r>
              <a:rPr lang="en-US" sz="1400" dirty="0">
                <a:solidFill>
                  <a:schemeClr val="tx1"/>
                </a:solidFill>
              </a:rPr>
              <a:t>Cleaning</a:t>
            </a:r>
            <a:endParaRPr lang="en-US" sz="1400" dirty="0"/>
          </a:p>
        </p:txBody>
      </p:sp>
      <p:sp>
        <p:nvSpPr>
          <p:cNvPr id="14" name="Corpus adım 04"/>
          <p:cNvSpPr/>
          <p:nvPr/>
        </p:nvSpPr>
        <p:spPr>
          <a:xfrm>
            <a:off x="4526280" y="1874520"/>
            <a:ext cx="640080" cy="640080"/>
          </a:xfrm>
          <a:prstGeom prst="ellipse">
            <a:avLst/>
          </a:prstGeom>
          <a:solidFill>
            <a:schemeClr val="accent1"/>
          </a:solidFill>
          <a:ln w="12700">
            <a:solidFill>
              <a:schemeClr val="accent1"/>
            </a:solidFill>
            <a:prstDash val="solid"/>
          </a:ln>
        </p:spPr>
      </p:sp>
      <p:sp>
        <p:nvSpPr>
          <p:cNvPr id="15" name="Corpus adım 04 etiket"/>
          <p:cNvSpPr txBox="1"/>
          <p:nvPr/>
        </p:nvSpPr>
        <p:spPr>
          <a:xfrm>
            <a:off x="4526280" y="187452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04</a:t>
            </a:r>
            <a:endParaRPr lang="en-US" sz="1600" dirty="0"/>
          </a:p>
        </p:txBody>
      </p:sp>
      <p:sp>
        <p:nvSpPr>
          <p:cNvPr id="16" name="Corpus adım adı 04"/>
          <p:cNvSpPr txBox="1"/>
          <p:nvPr/>
        </p:nvSpPr>
        <p:spPr>
          <a:xfrm>
            <a:off x="4206240" y="2606040"/>
            <a:ext cx="1280160" cy="457200"/>
          </a:xfrm>
          <a:prstGeom prst="rect">
            <a:avLst/>
          </a:prstGeom>
          <a:noFill/>
          <a:ln/>
        </p:spPr>
        <p:txBody>
          <a:bodyPr wrap="square" lIns="0" tIns="0" rIns="0" bIns="0" rtlCol="0" anchor="t"/>
          <a:lstStyle/>
          <a:p>
            <a:pPr algn="ctr" indent="0" marL="0">
              <a:buNone/>
            </a:pPr>
            <a:r>
              <a:rPr lang="en-US" sz="1400" dirty="0">
                <a:solidFill>
                  <a:schemeClr val="tx1"/>
                </a:solidFill>
              </a:rPr>
              <a:t>Filtre</a:t>
            </a:r>
            <a:endParaRPr lang="en-US" sz="1400" dirty="0"/>
          </a:p>
        </p:txBody>
      </p:sp>
      <p:sp>
        <p:nvSpPr>
          <p:cNvPr id="17" name="Corpus adım 05"/>
          <p:cNvSpPr/>
          <p:nvPr/>
        </p:nvSpPr>
        <p:spPr>
          <a:xfrm>
            <a:off x="5760720" y="1874520"/>
            <a:ext cx="640080" cy="640080"/>
          </a:xfrm>
          <a:prstGeom prst="ellipse">
            <a:avLst/>
          </a:prstGeom>
          <a:solidFill>
            <a:schemeClr val="accent1"/>
          </a:solidFill>
          <a:ln w="12700">
            <a:solidFill>
              <a:schemeClr val="accent1"/>
            </a:solidFill>
            <a:prstDash val="solid"/>
          </a:ln>
        </p:spPr>
      </p:sp>
      <p:sp>
        <p:nvSpPr>
          <p:cNvPr id="18" name="Corpus adım 05 etiket"/>
          <p:cNvSpPr txBox="1"/>
          <p:nvPr/>
        </p:nvSpPr>
        <p:spPr>
          <a:xfrm>
            <a:off x="5760720" y="187452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05</a:t>
            </a:r>
            <a:endParaRPr lang="en-US" sz="1600" dirty="0"/>
          </a:p>
        </p:txBody>
      </p:sp>
      <p:sp>
        <p:nvSpPr>
          <p:cNvPr id="19" name="Corpus adım adı 05"/>
          <p:cNvSpPr txBox="1"/>
          <p:nvPr/>
        </p:nvSpPr>
        <p:spPr>
          <a:xfrm>
            <a:off x="5440680" y="2606040"/>
            <a:ext cx="1280160" cy="457200"/>
          </a:xfrm>
          <a:prstGeom prst="rect">
            <a:avLst/>
          </a:prstGeom>
          <a:noFill/>
          <a:ln/>
        </p:spPr>
        <p:txBody>
          <a:bodyPr wrap="square" lIns="0" tIns="0" rIns="0" bIns="0" rtlCol="0" anchor="t"/>
          <a:lstStyle/>
          <a:p>
            <a:pPr algn="ctr" indent="0" marL="0">
              <a:buNone/>
            </a:pPr>
            <a:r>
              <a:rPr lang="en-US" sz="1400" dirty="0">
                <a:solidFill>
                  <a:schemeClr val="tx1"/>
                </a:solidFill>
              </a:rPr>
              <a:t>Tekrar</a:t>
            </a:r>
            <a:endParaRPr lang="en-US" sz="1400" dirty="0"/>
          </a:p>
        </p:txBody>
      </p:sp>
      <p:sp>
        <p:nvSpPr>
          <p:cNvPr id="20" name="Corpus adım 06"/>
          <p:cNvSpPr/>
          <p:nvPr/>
        </p:nvSpPr>
        <p:spPr>
          <a:xfrm>
            <a:off x="6995160" y="1874520"/>
            <a:ext cx="640080" cy="640080"/>
          </a:xfrm>
          <a:prstGeom prst="ellipse">
            <a:avLst/>
          </a:prstGeom>
          <a:solidFill>
            <a:schemeClr val="accent1"/>
          </a:solidFill>
          <a:ln w="12700">
            <a:solidFill>
              <a:schemeClr val="accent1"/>
            </a:solidFill>
            <a:prstDash val="solid"/>
          </a:ln>
        </p:spPr>
      </p:sp>
      <p:sp>
        <p:nvSpPr>
          <p:cNvPr id="21" name="Corpus adım 06 etiket"/>
          <p:cNvSpPr txBox="1"/>
          <p:nvPr/>
        </p:nvSpPr>
        <p:spPr>
          <a:xfrm>
            <a:off x="6995160" y="187452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06</a:t>
            </a:r>
            <a:endParaRPr lang="en-US" sz="1600" dirty="0"/>
          </a:p>
        </p:txBody>
      </p:sp>
      <p:sp>
        <p:nvSpPr>
          <p:cNvPr id="22" name="Corpus adım adı 06"/>
          <p:cNvSpPr txBox="1"/>
          <p:nvPr/>
        </p:nvSpPr>
        <p:spPr>
          <a:xfrm>
            <a:off x="6675120" y="2606040"/>
            <a:ext cx="1280160" cy="457200"/>
          </a:xfrm>
          <a:prstGeom prst="rect">
            <a:avLst/>
          </a:prstGeom>
          <a:noFill/>
          <a:ln/>
        </p:spPr>
        <p:txBody>
          <a:bodyPr wrap="square" lIns="0" tIns="0" rIns="0" bIns="0" rtlCol="0" anchor="t"/>
          <a:lstStyle/>
          <a:p>
            <a:pPr algn="ctr" indent="0" marL="0">
              <a:buNone/>
            </a:pPr>
            <a:r>
              <a:rPr lang="en-US" sz="1400" dirty="0">
                <a:solidFill>
                  <a:schemeClr val="tx1"/>
                </a:solidFill>
              </a:rPr>
              <a:t>Split</a:t>
            </a:r>
            <a:endParaRPr lang="en-US" sz="1400" dirty="0"/>
          </a:p>
        </p:txBody>
      </p:sp>
      <p:sp>
        <p:nvSpPr>
          <p:cNvPr id="23" name="Corpus adım 06b"/>
          <p:cNvSpPr/>
          <p:nvPr/>
        </p:nvSpPr>
        <p:spPr>
          <a:xfrm>
            <a:off x="8229600" y="1874520"/>
            <a:ext cx="640080" cy="640080"/>
          </a:xfrm>
          <a:prstGeom prst="ellipse">
            <a:avLst/>
          </a:prstGeom>
          <a:solidFill>
            <a:schemeClr val="accent1"/>
          </a:solidFill>
          <a:ln w="12700">
            <a:solidFill>
              <a:schemeClr val="accent1"/>
            </a:solidFill>
            <a:prstDash val="solid"/>
          </a:ln>
        </p:spPr>
      </p:sp>
      <p:sp>
        <p:nvSpPr>
          <p:cNvPr id="24" name="Corpus adım 06b etiket"/>
          <p:cNvSpPr txBox="1"/>
          <p:nvPr/>
        </p:nvSpPr>
        <p:spPr>
          <a:xfrm>
            <a:off x="8229600" y="1874520"/>
            <a:ext cx="640080" cy="640080"/>
          </a:xfrm>
          <a:prstGeom prst="rect">
            <a:avLst/>
          </a:prstGeom>
          <a:noFill/>
          <a:ln/>
        </p:spPr>
        <p:txBody>
          <a:bodyPr wrap="square" lIns="0" tIns="0" rIns="0" bIns="0" rtlCol="0" anchor="ctr"/>
          <a:lstStyle/>
          <a:p>
            <a:pPr algn="ctr" indent="0" marL="0">
              <a:buNone/>
            </a:pPr>
            <a:r>
              <a:rPr lang="en-US" sz="1300" b="1" dirty="0">
                <a:solidFill>
                  <a:schemeClr val="tx1"/>
                </a:solidFill>
              </a:rPr>
              <a:t>06b</a:t>
            </a:r>
            <a:endParaRPr lang="en-US" sz="1300" dirty="0"/>
          </a:p>
        </p:txBody>
      </p:sp>
      <p:sp>
        <p:nvSpPr>
          <p:cNvPr id="25" name="Corpus adım adı 06b"/>
          <p:cNvSpPr txBox="1"/>
          <p:nvPr/>
        </p:nvSpPr>
        <p:spPr>
          <a:xfrm>
            <a:off x="7909560" y="2606040"/>
            <a:ext cx="1280160" cy="457200"/>
          </a:xfrm>
          <a:prstGeom prst="rect">
            <a:avLst/>
          </a:prstGeom>
          <a:noFill/>
          <a:ln/>
        </p:spPr>
        <p:txBody>
          <a:bodyPr wrap="square" lIns="0" tIns="0" rIns="0" bIns="0" rtlCol="0" anchor="t"/>
          <a:lstStyle/>
          <a:p>
            <a:pPr algn="ctr" indent="0" marL="0">
              <a:buNone/>
            </a:pPr>
            <a:r>
              <a:rPr lang="en-US" sz="1400" dirty="0">
                <a:solidFill>
                  <a:schemeClr val="tx1"/>
                </a:solidFill>
              </a:rPr>
              <a:t>2. geçiş</a:t>
            </a:r>
            <a:endParaRPr lang="en-US" sz="1400" dirty="0"/>
          </a:p>
        </p:txBody>
      </p:sp>
      <p:sp>
        <p:nvSpPr>
          <p:cNvPr id="26" name="Corpus adım 07"/>
          <p:cNvSpPr/>
          <p:nvPr/>
        </p:nvSpPr>
        <p:spPr>
          <a:xfrm>
            <a:off x="9464040" y="1874520"/>
            <a:ext cx="640080" cy="640080"/>
          </a:xfrm>
          <a:prstGeom prst="ellipse">
            <a:avLst/>
          </a:prstGeom>
          <a:solidFill>
            <a:schemeClr val="accent1"/>
          </a:solidFill>
          <a:ln w="12700">
            <a:solidFill>
              <a:schemeClr val="accent1"/>
            </a:solidFill>
            <a:prstDash val="solid"/>
          </a:ln>
        </p:spPr>
      </p:sp>
      <p:sp>
        <p:nvSpPr>
          <p:cNvPr id="27" name="Corpus adım 07 etiket"/>
          <p:cNvSpPr txBox="1"/>
          <p:nvPr/>
        </p:nvSpPr>
        <p:spPr>
          <a:xfrm>
            <a:off x="9464040" y="187452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07</a:t>
            </a:r>
            <a:endParaRPr lang="en-US" sz="1600" dirty="0"/>
          </a:p>
        </p:txBody>
      </p:sp>
      <p:sp>
        <p:nvSpPr>
          <p:cNvPr id="28" name="Corpus adım adı 07"/>
          <p:cNvSpPr txBox="1"/>
          <p:nvPr/>
        </p:nvSpPr>
        <p:spPr>
          <a:xfrm>
            <a:off x="9144000" y="2606040"/>
            <a:ext cx="1280160" cy="457200"/>
          </a:xfrm>
          <a:prstGeom prst="rect">
            <a:avLst/>
          </a:prstGeom>
          <a:noFill/>
          <a:ln/>
        </p:spPr>
        <p:txBody>
          <a:bodyPr wrap="square" lIns="0" tIns="0" rIns="0" bIns="0" rtlCol="0" anchor="t"/>
          <a:lstStyle/>
          <a:p>
            <a:pPr algn="ctr" indent="0" marL="0">
              <a:buNone/>
            </a:pPr>
            <a:r>
              <a:rPr lang="en-US" sz="1400" dirty="0">
                <a:solidFill>
                  <a:schemeClr val="tx1"/>
                </a:solidFill>
              </a:rPr>
              <a:t>Token</a:t>
            </a:r>
            <a:endParaRPr lang="en-US" sz="1400" dirty="0"/>
          </a:p>
        </p:txBody>
      </p:sp>
      <p:sp>
        <p:nvSpPr>
          <p:cNvPr id="29" name="Corpus adım 08"/>
          <p:cNvSpPr/>
          <p:nvPr/>
        </p:nvSpPr>
        <p:spPr>
          <a:xfrm>
            <a:off x="10698480" y="1874520"/>
            <a:ext cx="640080" cy="640080"/>
          </a:xfrm>
          <a:prstGeom prst="ellipse">
            <a:avLst/>
          </a:prstGeom>
          <a:solidFill>
            <a:schemeClr val="accent1"/>
          </a:solidFill>
          <a:ln w="12700">
            <a:solidFill>
              <a:schemeClr val="accent1"/>
            </a:solidFill>
            <a:prstDash val="solid"/>
          </a:ln>
        </p:spPr>
      </p:sp>
      <p:sp>
        <p:nvSpPr>
          <p:cNvPr id="30" name="Corpus adım 08 etiket"/>
          <p:cNvSpPr txBox="1"/>
          <p:nvPr/>
        </p:nvSpPr>
        <p:spPr>
          <a:xfrm>
            <a:off x="10698480" y="187452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08</a:t>
            </a:r>
            <a:endParaRPr lang="en-US" sz="1600" dirty="0"/>
          </a:p>
        </p:txBody>
      </p:sp>
      <p:sp>
        <p:nvSpPr>
          <p:cNvPr id="31" name="Corpus adım adı 08"/>
          <p:cNvSpPr txBox="1"/>
          <p:nvPr/>
        </p:nvSpPr>
        <p:spPr>
          <a:xfrm>
            <a:off x="10378440" y="2606040"/>
            <a:ext cx="1280160" cy="457200"/>
          </a:xfrm>
          <a:prstGeom prst="rect">
            <a:avLst/>
          </a:prstGeom>
          <a:noFill/>
          <a:ln/>
        </p:spPr>
        <p:txBody>
          <a:bodyPr wrap="square" lIns="0" tIns="0" rIns="0" bIns="0" rtlCol="0" anchor="t"/>
          <a:lstStyle/>
          <a:p>
            <a:pPr algn="ctr" indent="0" marL="0">
              <a:buNone/>
            </a:pPr>
            <a:r>
              <a:rPr lang="en-US" sz="1400" dirty="0">
                <a:solidFill>
                  <a:schemeClr val="tx1"/>
                </a:solidFill>
              </a:rPr>
              <a:t>İstatistik</a:t>
            </a:r>
            <a:endParaRPr lang="en-US" sz="1400" dirty="0"/>
          </a:p>
        </p:txBody>
      </p:sp>
      <p:sp>
        <p:nvSpPr>
          <p:cNvPr id="32" name="Pipeline instruction başlık"/>
          <p:cNvSpPr txBox="1"/>
          <p:nvPr/>
        </p:nvSpPr>
        <p:spPr>
          <a:xfrm>
            <a:off x="548640" y="3291840"/>
            <a:ext cx="548640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Instruction Dataset</a:t>
            </a:r>
            <a:endParaRPr lang="en-US" sz="2000" dirty="0"/>
          </a:p>
        </p:txBody>
      </p:sp>
      <p:sp>
        <p:nvSpPr>
          <p:cNvPr id="33" name="Instruction adım 09"/>
          <p:cNvSpPr/>
          <p:nvPr/>
        </p:nvSpPr>
        <p:spPr>
          <a:xfrm>
            <a:off x="978408" y="3840480"/>
            <a:ext cx="640080" cy="640080"/>
          </a:xfrm>
          <a:prstGeom prst="ellipse">
            <a:avLst/>
          </a:prstGeom>
          <a:solidFill>
            <a:schemeClr val="accent2"/>
          </a:solidFill>
          <a:ln w="12700">
            <a:solidFill>
              <a:schemeClr val="accent2"/>
            </a:solidFill>
            <a:prstDash val="solid"/>
          </a:ln>
        </p:spPr>
      </p:sp>
      <p:sp>
        <p:nvSpPr>
          <p:cNvPr id="34" name="Instruction adım 09 etiket"/>
          <p:cNvSpPr txBox="1"/>
          <p:nvPr/>
        </p:nvSpPr>
        <p:spPr>
          <a:xfrm>
            <a:off x="978408" y="384048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09</a:t>
            </a:r>
            <a:endParaRPr lang="en-US" sz="1600" dirty="0"/>
          </a:p>
        </p:txBody>
      </p:sp>
      <p:sp>
        <p:nvSpPr>
          <p:cNvPr id="35" name="Instruction adım adı 09"/>
          <p:cNvSpPr txBox="1"/>
          <p:nvPr/>
        </p:nvSpPr>
        <p:spPr>
          <a:xfrm>
            <a:off x="502920" y="4572000"/>
            <a:ext cx="1600200" cy="457200"/>
          </a:xfrm>
          <a:prstGeom prst="rect">
            <a:avLst/>
          </a:prstGeom>
          <a:noFill/>
          <a:ln/>
        </p:spPr>
        <p:txBody>
          <a:bodyPr wrap="square" lIns="0" tIns="0" rIns="0" bIns="0" rtlCol="0" anchor="t"/>
          <a:lstStyle/>
          <a:p>
            <a:pPr algn="ctr" indent="0" marL="0">
              <a:buNone/>
            </a:pPr>
            <a:r>
              <a:rPr lang="en-US" sz="1400" dirty="0">
                <a:solidFill>
                  <a:schemeClr val="tx1"/>
                </a:solidFill>
              </a:rPr>
              <a:t>Kaynak seçimi</a:t>
            </a:r>
            <a:endParaRPr lang="en-US" sz="1400" dirty="0"/>
          </a:p>
        </p:txBody>
      </p:sp>
      <p:sp>
        <p:nvSpPr>
          <p:cNvPr id="36" name="Instruction adım 10"/>
          <p:cNvSpPr/>
          <p:nvPr/>
        </p:nvSpPr>
        <p:spPr>
          <a:xfrm>
            <a:off x="2560320" y="3840480"/>
            <a:ext cx="640080" cy="640080"/>
          </a:xfrm>
          <a:prstGeom prst="ellipse">
            <a:avLst/>
          </a:prstGeom>
          <a:solidFill>
            <a:schemeClr val="accent2"/>
          </a:solidFill>
          <a:ln w="12700">
            <a:solidFill>
              <a:schemeClr val="accent2"/>
            </a:solidFill>
            <a:prstDash val="solid"/>
          </a:ln>
        </p:spPr>
      </p:sp>
      <p:sp>
        <p:nvSpPr>
          <p:cNvPr id="37" name="Instruction adım 10 etiket"/>
          <p:cNvSpPr txBox="1"/>
          <p:nvPr/>
        </p:nvSpPr>
        <p:spPr>
          <a:xfrm>
            <a:off x="2560320" y="384048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10</a:t>
            </a:r>
            <a:endParaRPr lang="en-US" sz="1600" dirty="0"/>
          </a:p>
        </p:txBody>
      </p:sp>
      <p:sp>
        <p:nvSpPr>
          <p:cNvPr id="38" name="Instruction adım adı 10"/>
          <p:cNvSpPr txBox="1"/>
          <p:nvPr/>
        </p:nvSpPr>
        <p:spPr>
          <a:xfrm>
            <a:off x="2084832" y="4572000"/>
            <a:ext cx="1600200" cy="457200"/>
          </a:xfrm>
          <a:prstGeom prst="rect">
            <a:avLst/>
          </a:prstGeom>
          <a:noFill/>
          <a:ln/>
        </p:spPr>
        <p:txBody>
          <a:bodyPr wrap="square" lIns="0" tIns="0" rIns="0" bIns="0" rtlCol="0" anchor="t"/>
          <a:lstStyle/>
          <a:p>
            <a:pPr algn="ctr" indent="0" marL="0">
              <a:buNone/>
            </a:pPr>
            <a:r>
              <a:rPr lang="en-US" sz="1400" dirty="0">
                <a:solidFill>
                  <a:schemeClr val="tx1"/>
                </a:solidFill>
              </a:rPr>
              <a:t>Üretim (Gemini)</a:t>
            </a:r>
            <a:endParaRPr lang="en-US" sz="1400" dirty="0"/>
          </a:p>
        </p:txBody>
      </p:sp>
      <p:sp>
        <p:nvSpPr>
          <p:cNvPr id="39" name="Instruction adım 11"/>
          <p:cNvSpPr/>
          <p:nvPr/>
        </p:nvSpPr>
        <p:spPr>
          <a:xfrm>
            <a:off x="4142232" y="3840480"/>
            <a:ext cx="640080" cy="640080"/>
          </a:xfrm>
          <a:prstGeom prst="ellipse">
            <a:avLst/>
          </a:prstGeom>
          <a:solidFill>
            <a:schemeClr val="accent2"/>
          </a:solidFill>
          <a:ln w="12700">
            <a:solidFill>
              <a:schemeClr val="accent2"/>
            </a:solidFill>
            <a:prstDash val="solid"/>
          </a:ln>
        </p:spPr>
      </p:sp>
      <p:sp>
        <p:nvSpPr>
          <p:cNvPr id="40" name="Instruction adım 11 etiket"/>
          <p:cNvSpPr txBox="1"/>
          <p:nvPr/>
        </p:nvSpPr>
        <p:spPr>
          <a:xfrm>
            <a:off x="4142232" y="384048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11</a:t>
            </a:r>
            <a:endParaRPr lang="en-US" sz="1600" dirty="0"/>
          </a:p>
        </p:txBody>
      </p:sp>
      <p:sp>
        <p:nvSpPr>
          <p:cNvPr id="41" name="Instruction adım adı 11"/>
          <p:cNvSpPr txBox="1"/>
          <p:nvPr/>
        </p:nvSpPr>
        <p:spPr>
          <a:xfrm>
            <a:off x="3666744" y="4572000"/>
            <a:ext cx="1600200" cy="457200"/>
          </a:xfrm>
          <a:prstGeom prst="rect">
            <a:avLst/>
          </a:prstGeom>
          <a:noFill/>
          <a:ln/>
        </p:spPr>
        <p:txBody>
          <a:bodyPr wrap="square" lIns="0" tIns="0" rIns="0" bIns="0" rtlCol="0" anchor="t"/>
          <a:lstStyle/>
          <a:p>
            <a:pPr algn="ctr" indent="0" marL="0">
              <a:buNone/>
            </a:pPr>
            <a:r>
              <a:rPr lang="en-US" sz="1400" dirty="0">
                <a:solidFill>
                  <a:schemeClr val="tx1"/>
                </a:solidFill>
              </a:rPr>
              <a:t>Doğrulama</a:t>
            </a:r>
            <a:endParaRPr lang="en-US" sz="1400" dirty="0"/>
          </a:p>
        </p:txBody>
      </p:sp>
      <p:sp>
        <p:nvSpPr>
          <p:cNvPr id="42" name="Instruction adım 12"/>
          <p:cNvSpPr/>
          <p:nvPr/>
        </p:nvSpPr>
        <p:spPr>
          <a:xfrm>
            <a:off x="5724144" y="3840480"/>
            <a:ext cx="640080" cy="640080"/>
          </a:xfrm>
          <a:prstGeom prst="ellipse">
            <a:avLst/>
          </a:prstGeom>
          <a:solidFill>
            <a:schemeClr val="accent2"/>
          </a:solidFill>
          <a:ln w="12700">
            <a:solidFill>
              <a:schemeClr val="accent2"/>
            </a:solidFill>
            <a:prstDash val="solid"/>
          </a:ln>
        </p:spPr>
      </p:sp>
      <p:sp>
        <p:nvSpPr>
          <p:cNvPr id="43" name="Instruction adım 12 etiket"/>
          <p:cNvSpPr txBox="1"/>
          <p:nvPr/>
        </p:nvSpPr>
        <p:spPr>
          <a:xfrm>
            <a:off x="5724144" y="384048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12</a:t>
            </a:r>
            <a:endParaRPr lang="en-US" sz="1600" dirty="0"/>
          </a:p>
        </p:txBody>
      </p:sp>
      <p:sp>
        <p:nvSpPr>
          <p:cNvPr id="44" name="Instruction adım adı 12"/>
          <p:cNvSpPr txBox="1"/>
          <p:nvPr/>
        </p:nvSpPr>
        <p:spPr>
          <a:xfrm>
            <a:off x="5248656" y="4572000"/>
            <a:ext cx="1600200" cy="457200"/>
          </a:xfrm>
          <a:prstGeom prst="rect">
            <a:avLst/>
          </a:prstGeom>
          <a:noFill/>
          <a:ln/>
        </p:spPr>
        <p:txBody>
          <a:bodyPr wrap="square" lIns="0" tIns="0" rIns="0" bIns="0" rtlCol="0" anchor="t"/>
          <a:lstStyle/>
          <a:p>
            <a:pPr algn="ctr" indent="0" marL="0">
              <a:buNone/>
            </a:pPr>
            <a:r>
              <a:rPr lang="en-US" sz="1400" dirty="0">
                <a:solidFill>
                  <a:schemeClr val="tx1"/>
                </a:solidFill>
              </a:rPr>
              <a:t>Split</a:t>
            </a:r>
            <a:endParaRPr lang="en-US" sz="1400" dirty="0"/>
          </a:p>
        </p:txBody>
      </p:sp>
      <p:sp>
        <p:nvSpPr>
          <p:cNvPr id="45" name="Instruction adım 13–14"/>
          <p:cNvSpPr/>
          <p:nvPr/>
        </p:nvSpPr>
        <p:spPr>
          <a:xfrm>
            <a:off x="7306056" y="3840480"/>
            <a:ext cx="640080" cy="640080"/>
          </a:xfrm>
          <a:prstGeom prst="ellipse">
            <a:avLst/>
          </a:prstGeom>
          <a:solidFill>
            <a:schemeClr val="accent2"/>
          </a:solidFill>
          <a:ln w="12700">
            <a:solidFill>
              <a:schemeClr val="accent2"/>
            </a:solidFill>
            <a:prstDash val="solid"/>
          </a:ln>
        </p:spPr>
      </p:sp>
      <p:sp>
        <p:nvSpPr>
          <p:cNvPr id="46" name="Instruction adım 13–14 etiket"/>
          <p:cNvSpPr txBox="1"/>
          <p:nvPr/>
        </p:nvSpPr>
        <p:spPr>
          <a:xfrm>
            <a:off x="7306056" y="3840480"/>
            <a:ext cx="640080" cy="640080"/>
          </a:xfrm>
          <a:prstGeom prst="rect">
            <a:avLst/>
          </a:prstGeom>
          <a:noFill/>
          <a:ln/>
        </p:spPr>
        <p:txBody>
          <a:bodyPr wrap="square" lIns="0" tIns="0" rIns="0" bIns="0" rtlCol="0" anchor="ctr"/>
          <a:lstStyle/>
          <a:p>
            <a:pPr algn="ctr" indent="0" marL="0">
              <a:buNone/>
            </a:pPr>
            <a:r>
              <a:rPr lang="en-US" sz="1200" b="1" dirty="0">
                <a:solidFill>
                  <a:schemeClr val="tx1"/>
                </a:solidFill>
              </a:rPr>
              <a:t>13–14</a:t>
            </a:r>
            <a:endParaRPr lang="en-US" sz="1200" dirty="0"/>
          </a:p>
        </p:txBody>
      </p:sp>
      <p:sp>
        <p:nvSpPr>
          <p:cNvPr id="47" name="Instruction adım adı 13–14"/>
          <p:cNvSpPr txBox="1"/>
          <p:nvPr/>
        </p:nvSpPr>
        <p:spPr>
          <a:xfrm>
            <a:off x="6830568" y="4572000"/>
            <a:ext cx="1600200" cy="457200"/>
          </a:xfrm>
          <a:prstGeom prst="rect">
            <a:avLst/>
          </a:prstGeom>
          <a:noFill/>
          <a:ln/>
        </p:spPr>
        <p:txBody>
          <a:bodyPr wrap="square" lIns="0" tIns="0" rIns="0" bIns="0" rtlCol="0" anchor="t"/>
          <a:lstStyle/>
          <a:p>
            <a:pPr algn="ctr" indent="0" marL="0">
              <a:buNone/>
            </a:pPr>
            <a:r>
              <a:rPr lang="en-US" sz="1400" dirty="0">
                <a:solidFill>
                  <a:schemeClr val="tx1"/>
                </a:solidFill>
              </a:rPr>
              <a:t>Kalite kontrol</a:t>
            </a:r>
            <a:endParaRPr lang="en-US" sz="1400" dirty="0"/>
          </a:p>
        </p:txBody>
      </p:sp>
      <p:sp>
        <p:nvSpPr>
          <p:cNvPr id="48" name="Instruction adım 15"/>
          <p:cNvSpPr/>
          <p:nvPr/>
        </p:nvSpPr>
        <p:spPr>
          <a:xfrm>
            <a:off x="8887968" y="3840480"/>
            <a:ext cx="640080" cy="640080"/>
          </a:xfrm>
          <a:prstGeom prst="ellipse">
            <a:avLst/>
          </a:prstGeom>
          <a:solidFill>
            <a:schemeClr val="accent2"/>
          </a:solidFill>
          <a:ln w="12700">
            <a:solidFill>
              <a:schemeClr val="accent2"/>
            </a:solidFill>
            <a:prstDash val="solid"/>
          </a:ln>
        </p:spPr>
      </p:sp>
      <p:sp>
        <p:nvSpPr>
          <p:cNvPr id="49" name="Instruction adım 15 etiket"/>
          <p:cNvSpPr txBox="1"/>
          <p:nvPr/>
        </p:nvSpPr>
        <p:spPr>
          <a:xfrm>
            <a:off x="8887968" y="384048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15</a:t>
            </a:r>
            <a:endParaRPr lang="en-US" sz="1600" dirty="0"/>
          </a:p>
        </p:txBody>
      </p:sp>
      <p:sp>
        <p:nvSpPr>
          <p:cNvPr id="50" name="Instruction adım adı 15"/>
          <p:cNvSpPr txBox="1"/>
          <p:nvPr/>
        </p:nvSpPr>
        <p:spPr>
          <a:xfrm>
            <a:off x="8412480" y="4572000"/>
            <a:ext cx="1600200" cy="457200"/>
          </a:xfrm>
          <a:prstGeom prst="rect">
            <a:avLst/>
          </a:prstGeom>
          <a:noFill/>
          <a:ln/>
        </p:spPr>
        <p:txBody>
          <a:bodyPr wrap="square" lIns="0" tIns="0" rIns="0" bIns="0" rtlCol="0" anchor="t"/>
          <a:lstStyle/>
          <a:p>
            <a:pPr algn="ctr" indent="0" marL="0">
              <a:buNone/>
            </a:pPr>
            <a:r>
              <a:rPr lang="en-US" sz="1400" dirty="0">
                <a:solidFill>
                  <a:schemeClr val="tx1"/>
                </a:solidFill>
              </a:rPr>
              <a:t>Kartlar</a:t>
            </a:r>
            <a:endParaRPr lang="en-US" sz="1400" dirty="0"/>
          </a:p>
        </p:txBody>
      </p:sp>
      <p:sp>
        <p:nvSpPr>
          <p:cNvPr id="51" name="Instruction adım 16"/>
          <p:cNvSpPr/>
          <p:nvPr/>
        </p:nvSpPr>
        <p:spPr>
          <a:xfrm>
            <a:off x="10469880" y="3840480"/>
            <a:ext cx="640080" cy="640080"/>
          </a:xfrm>
          <a:prstGeom prst="ellipse">
            <a:avLst/>
          </a:prstGeom>
          <a:solidFill>
            <a:schemeClr val="accent2"/>
          </a:solidFill>
          <a:ln w="12700">
            <a:solidFill>
              <a:schemeClr val="accent2"/>
            </a:solidFill>
            <a:prstDash val="solid"/>
          </a:ln>
        </p:spPr>
      </p:sp>
      <p:sp>
        <p:nvSpPr>
          <p:cNvPr id="52" name="Instruction adım 16 etiket"/>
          <p:cNvSpPr txBox="1"/>
          <p:nvPr/>
        </p:nvSpPr>
        <p:spPr>
          <a:xfrm>
            <a:off x="10469880" y="3840480"/>
            <a:ext cx="640080" cy="640080"/>
          </a:xfrm>
          <a:prstGeom prst="rect">
            <a:avLst/>
          </a:prstGeom>
          <a:noFill/>
          <a:ln/>
        </p:spPr>
        <p:txBody>
          <a:bodyPr wrap="square" lIns="0" tIns="0" rIns="0" bIns="0" rtlCol="0" anchor="ctr"/>
          <a:lstStyle/>
          <a:p>
            <a:pPr algn="ctr" indent="0" marL="0">
              <a:buNone/>
            </a:pPr>
            <a:r>
              <a:rPr lang="en-US" sz="1600" b="1" dirty="0">
                <a:solidFill>
                  <a:schemeClr val="tx1"/>
                </a:solidFill>
              </a:rPr>
              <a:t>16</a:t>
            </a:r>
            <a:endParaRPr lang="en-US" sz="1600" dirty="0"/>
          </a:p>
        </p:txBody>
      </p:sp>
      <p:sp>
        <p:nvSpPr>
          <p:cNvPr id="53" name="Instruction adım adı 16"/>
          <p:cNvSpPr txBox="1"/>
          <p:nvPr/>
        </p:nvSpPr>
        <p:spPr>
          <a:xfrm>
            <a:off x="9994392" y="4572000"/>
            <a:ext cx="1600200" cy="457200"/>
          </a:xfrm>
          <a:prstGeom prst="rect">
            <a:avLst/>
          </a:prstGeom>
          <a:noFill/>
          <a:ln/>
        </p:spPr>
        <p:txBody>
          <a:bodyPr wrap="square" lIns="0" tIns="0" rIns="0" bIns="0" rtlCol="0" anchor="t"/>
          <a:lstStyle/>
          <a:p>
            <a:pPr algn="ctr" indent="0" marL="0">
              <a:buNone/>
            </a:pPr>
            <a:r>
              <a:rPr lang="en-US" sz="1400" dirty="0">
                <a:solidFill>
                  <a:schemeClr val="tx1"/>
                </a:solidFill>
              </a:rPr>
              <a:t>Örnekler</a:t>
            </a:r>
            <a:endParaRPr lang="en-US" sz="1400" dirty="0"/>
          </a:p>
        </p:txBody>
      </p:sp>
      <p:sp>
        <p:nvSpPr>
          <p:cNvPr id="54" name="Yeniden üretim kartı"/>
          <p:cNvSpPr/>
          <p:nvPr/>
        </p:nvSpPr>
        <p:spPr>
          <a:xfrm>
            <a:off x="548640" y="5349240"/>
            <a:ext cx="1106424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55" name="Yeniden üretim metni"/>
          <p:cNvSpPr txBox="1"/>
          <p:nvPr/>
        </p:nvSpPr>
        <p:spPr>
          <a:xfrm>
            <a:off x="777240" y="5486400"/>
            <a:ext cx="10607040" cy="548640"/>
          </a:xfrm>
          <a:prstGeom prst="rect">
            <a:avLst/>
          </a:prstGeom>
          <a:noFill/>
          <a:ln/>
        </p:spPr>
        <p:txBody>
          <a:bodyPr wrap="square" lIns="0" tIns="0" rIns="0" bIns="0" rtlCol="0" anchor="ctr"/>
          <a:lstStyle/>
          <a:p>
            <a:pPr indent="0" marL="0">
              <a:buNone/>
            </a:pPr>
            <a:r>
              <a:rPr lang="en-US" sz="1500" dirty="0">
                <a:solidFill>
                  <a:schemeClr val="tx1"/>
                </a:solidFill>
              </a:rPr>
              <a:t>config.yaml (yollar, eşikler, seed 42) · her script logs/ altına log ve özet sayı · run_pipeline.py --all · sıfırdan yeniden üretimde birebir aynı çıktı · validate_datasets.py ile son kontrol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Extraction ve cleaning: öncesi / sonrası</a:t>
            </a:r>
            <a:endParaRPr lang="en-US" sz="3200" dirty="0"/>
          </a:p>
        </p:txBody>
      </p:sp>
      <p:sp>
        <p:nvSpPr>
          <p:cNvPr id="4" name="Önce başlık"/>
          <p:cNvSpPr txBox="1"/>
          <p:nvPr/>
        </p:nvSpPr>
        <p:spPr>
          <a:xfrm>
            <a:off x="3017520" y="1280160"/>
            <a:ext cx="4023360" cy="365760"/>
          </a:xfrm>
          <a:prstGeom prst="rect">
            <a:avLst/>
          </a:prstGeom>
          <a:noFill/>
          <a:ln/>
        </p:spPr>
        <p:txBody>
          <a:bodyPr wrap="square" lIns="0" tIns="0" rIns="0" bIns="0" rtlCol="0" anchor="t"/>
          <a:lstStyle/>
          <a:p>
            <a:pPr indent="0" marL="0">
              <a:buNone/>
            </a:pPr>
            <a:r>
              <a:rPr lang="en-US" sz="1800" b="1" dirty="0">
                <a:solidFill>
                  <a:schemeClr val="accent4"/>
                </a:solidFill>
              </a:rPr>
              <a:t>Önce</a:t>
            </a:r>
            <a:endParaRPr lang="en-US" sz="1800" dirty="0"/>
          </a:p>
        </p:txBody>
      </p:sp>
      <p:sp>
        <p:nvSpPr>
          <p:cNvPr id="5" name="Sonra başlık"/>
          <p:cNvSpPr txBox="1"/>
          <p:nvPr/>
        </p:nvSpPr>
        <p:spPr>
          <a:xfrm>
            <a:off x="7406640" y="1280160"/>
            <a:ext cx="4206240" cy="365760"/>
          </a:xfrm>
          <a:prstGeom prst="rect">
            <a:avLst/>
          </a:prstGeom>
          <a:noFill/>
          <a:ln/>
        </p:spPr>
        <p:txBody>
          <a:bodyPr wrap="square" lIns="0" tIns="0" rIns="0" bIns="0" rtlCol="0" anchor="t"/>
          <a:lstStyle/>
          <a:p>
            <a:pPr indent="0" marL="0">
              <a:buNone/>
            </a:pPr>
            <a:r>
              <a:rPr lang="en-US" sz="1800" b="1" dirty="0">
                <a:solidFill>
                  <a:schemeClr val="accent2"/>
                </a:solidFill>
              </a:rPr>
              <a:t>Sonra</a:t>
            </a:r>
            <a:endParaRPr lang="en-US" sz="1800" dirty="0"/>
          </a:p>
        </p:txBody>
      </p:sp>
      <p:sp>
        <p:nvSpPr>
          <p:cNvPr id="6" name="Örnek adı 1"/>
          <p:cNvSpPr txBox="1"/>
          <p:nvPr/>
        </p:nvSpPr>
        <p:spPr>
          <a:xfrm>
            <a:off x="548640" y="1737360"/>
            <a:ext cx="2286000" cy="11430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PDF okuma sırası</a:t>
            </a:r>
            <a:endParaRPr lang="en-US" sz="1800" dirty="0"/>
          </a:p>
        </p:txBody>
      </p:sp>
      <p:sp>
        <p:nvSpPr>
          <p:cNvPr id="7" name="Önce kartı 1"/>
          <p:cNvSpPr/>
          <p:nvPr/>
        </p:nvSpPr>
        <p:spPr>
          <a:xfrm>
            <a:off x="3017520" y="1737360"/>
            <a:ext cx="4114800" cy="1143000"/>
          </a:xfrm>
          <a:prstGeom prst="roundRect">
            <a:avLst>
              <a:gd name="adj" fmla="val 9600"/>
            </a:avLst>
          </a:prstGeom>
          <a:solidFill>
            <a:srgbClr val="FBE9EB"/>
          </a:solidFill>
          <a:ln w="12700">
            <a:solidFill>
              <a:srgbClr val="FBE9EB"/>
            </a:solidFill>
            <a:prstDash val="solid"/>
          </a:ln>
          <a:effectLst>
            <a:outerShdw sx="100000" sy="100000" kx="0" ky="0" algn="bl" rotWithShape="0" blurRad="76200" dist="25400" dir="5400000">
              <a:srgbClr val="9AA8C7">
                <a:alpha val="25000"/>
              </a:srgbClr>
            </a:outerShdw>
          </a:effectLst>
        </p:spPr>
      </p:sp>
      <p:sp>
        <p:nvSpPr>
          <p:cNvPr id="8" name="Önce metni 1"/>
          <p:cNvSpPr txBox="1"/>
          <p:nvPr/>
        </p:nvSpPr>
        <p:spPr>
          <a:xfrm>
            <a:off x="3200400" y="1828800"/>
            <a:ext cx="3749040" cy="960120"/>
          </a:xfrm>
          <a:prstGeom prst="rect">
            <a:avLst/>
          </a:prstGeom>
          <a:noFill/>
          <a:ln/>
        </p:spPr>
        <p:txBody>
          <a:bodyPr wrap="square" lIns="0" tIns="0" rIns="0" bIns="0" rtlCol="0" anchor="ctr"/>
          <a:lstStyle/>
          <a:p>
            <a:pPr indent="0" marL="0">
              <a:buNone/>
            </a:pPr>
            <a:r>
              <a:rPr lang="en-US" sz="1500" i="1" dirty="0">
                <a:solidFill>
                  <a:schemeClr val="tx1"/>
                </a:solidFill>
              </a:rPr>
              <a:t>"…but this did not Explain what determines the strength of gravity… deter Isaac Newton"</a:t>
            </a:r>
            <a:endParaRPr lang="en-US" sz="1500" dirty="0"/>
          </a:p>
        </p:txBody>
      </p:sp>
      <p:sp>
        <p:nvSpPr>
          <p:cNvPr id="9" name="Sonra kartı 1"/>
          <p:cNvSpPr/>
          <p:nvPr/>
        </p:nvSpPr>
        <p:spPr>
          <a:xfrm>
            <a:off x="7406640" y="1737360"/>
            <a:ext cx="4206240" cy="1143000"/>
          </a:xfrm>
          <a:prstGeom prst="roundRect">
            <a:avLst>
              <a:gd name="adj" fmla="val 9600"/>
            </a:avLst>
          </a:prstGeom>
          <a:solidFill>
            <a:srgbClr val="E3F4F1"/>
          </a:solidFill>
          <a:ln w="12700">
            <a:solidFill>
              <a:srgbClr val="E3F4F1"/>
            </a:solidFill>
            <a:prstDash val="solid"/>
          </a:ln>
          <a:effectLst>
            <a:outerShdw sx="100000" sy="100000" kx="0" ky="0" algn="bl" rotWithShape="0" blurRad="76200" dist="25400" dir="5400000">
              <a:srgbClr val="9AA8C7">
                <a:alpha val="25000"/>
              </a:srgbClr>
            </a:outerShdw>
          </a:effectLst>
        </p:spPr>
      </p:sp>
      <p:sp>
        <p:nvSpPr>
          <p:cNvPr id="10" name="Sonra metni 1"/>
          <p:cNvSpPr txBox="1"/>
          <p:nvPr/>
        </p:nvSpPr>
        <p:spPr>
          <a:xfrm>
            <a:off x="7589520" y="1828800"/>
            <a:ext cx="3840480" cy="960120"/>
          </a:xfrm>
          <a:prstGeom prst="rect">
            <a:avLst/>
          </a:prstGeom>
          <a:noFill/>
          <a:ln/>
        </p:spPr>
        <p:txBody>
          <a:bodyPr wrap="square" lIns="0" tIns="0" rIns="0" bIns="0" rtlCol="0" anchor="ctr"/>
          <a:lstStyle/>
          <a:p>
            <a:pPr indent="0" marL="0">
              <a:buNone/>
            </a:pPr>
            <a:r>
              <a:rPr lang="en-US" sz="1500" dirty="0">
                <a:solidFill>
                  <a:schemeClr val="tx1"/>
                </a:solidFill>
              </a:rPr>
              <a:t>Bloklar sayfa konumuna göre sıralandı; kutu paragrafa karışmıyor</a:t>
            </a:r>
            <a:endParaRPr lang="en-US" sz="1500" dirty="0"/>
          </a:p>
        </p:txBody>
      </p:sp>
      <p:sp>
        <p:nvSpPr>
          <p:cNvPr id="11" name="Örnek adı 2"/>
          <p:cNvSpPr txBox="1"/>
          <p:nvPr/>
        </p:nvSpPr>
        <p:spPr>
          <a:xfrm>
            <a:off x="548640" y="3063240"/>
            <a:ext cx="2286000" cy="11430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Kaybolmuş üs</a:t>
            </a:r>
            <a:endParaRPr lang="en-US" sz="1800" dirty="0"/>
          </a:p>
        </p:txBody>
      </p:sp>
      <p:sp>
        <p:nvSpPr>
          <p:cNvPr id="12" name="Önce kartı 2"/>
          <p:cNvSpPr/>
          <p:nvPr/>
        </p:nvSpPr>
        <p:spPr>
          <a:xfrm>
            <a:off x="3017520" y="3063240"/>
            <a:ext cx="4114800" cy="1143000"/>
          </a:xfrm>
          <a:prstGeom prst="roundRect">
            <a:avLst>
              <a:gd name="adj" fmla="val 9600"/>
            </a:avLst>
          </a:prstGeom>
          <a:solidFill>
            <a:srgbClr val="FBE9EB"/>
          </a:solidFill>
          <a:ln w="12700">
            <a:solidFill>
              <a:srgbClr val="FBE9EB"/>
            </a:solidFill>
            <a:prstDash val="solid"/>
          </a:ln>
          <a:effectLst>
            <a:outerShdw sx="100000" sy="100000" kx="0" ky="0" algn="bl" rotWithShape="0" blurRad="76200" dist="25400" dir="5400000">
              <a:srgbClr val="9AA8C7">
                <a:alpha val="25000"/>
              </a:srgbClr>
            </a:outerShdw>
          </a:effectLst>
        </p:spPr>
      </p:sp>
      <p:sp>
        <p:nvSpPr>
          <p:cNvPr id="13" name="Önce metni 2"/>
          <p:cNvSpPr txBox="1"/>
          <p:nvPr/>
        </p:nvSpPr>
        <p:spPr>
          <a:xfrm>
            <a:off x="3200400" y="3154680"/>
            <a:ext cx="3749040" cy="960120"/>
          </a:xfrm>
          <a:prstGeom prst="rect">
            <a:avLst/>
          </a:prstGeom>
          <a:noFill/>
          <a:ln/>
        </p:spPr>
        <p:txBody>
          <a:bodyPr wrap="square" lIns="0" tIns="0" rIns="0" bIns="0" rtlCol="0" anchor="ctr"/>
          <a:lstStyle/>
          <a:p>
            <a:pPr indent="0" marL="0">
              <a:buNone/>
            </a:pPr>
            <a:r>
              <a:rPr lang="en-US" sz="1500" i="1" dirty="0">
                <a:solidFill>
                  <a:schemeClr val="tx1"/>
                </a:solidFill>
              </a:rPr>
              <a:t>"Güneş'e uzaklık 1.5 × 108 km"</a:t>
            </a:r>
            <a:endParaRPr lang="en-US" sz="1500" dirty="0"/>
          </a:p>
        </p:txBody>
      </p:sp>
      <p:sp>
        <p:nvSpPr>
          <p:cNvPr id="14" name="Sonra kartı 2"/>
          <p:cNvSpPr/>
          <p:nvPr/>
        </p:nvSpPr>
        <p:spPr>
          <a:xfrm>
            <a:off x="7406640" y="3063240"/>
            <a:ext cx="4206240" cy="1143000"/>
          </a:xfrm>
          <a:prstGeom prst="roundRect">
            <a:avLst>
              <a:gd name="adj" fmla="val 9600"/>
            </a:avLst>
          </a:prstGeom>
          <a:solidFill>
            <a:srgbClr val="E3F4F1"/>
          </a:solidFill>
          <a:ln w="12700">
            <a:solidFill>
              <a:srgbClr val="E3F4F1"/>
            </a:solidFill>
            <a:prstDash val="solid"/>
          </a:ln>
          <a:effectLst>
            <a:outerShdw sx="100000" sy="100000" kx="0" ky="0" algn="bl" rotWithShape="0" blurRad="76200" dist="25400" dir="5400000">
              <a:srgbClr val="9AA8C7">
                <a:alpha val="25000"/>
              </a:srgbClr>
            </a:outerShdw>
          </a:effectLst>
        </p:spPr>
      </p:sp>
      <p:sp>
        <p:nvSpPr>
          <p:cNvPr id="15" name="Sonra metni 2"/>
          <p:cNvSpPr txBox="1"/>
          <p:nvPr/>
        </p:nvSpPr>
        <p:spPr>
          <a:xfrm>
            <a:off x="7589520" y="3154680"/>
            <a:ext cx="3840480" cy="960120"/>
          </a:xfrm>
          <a:prstGeom prst="rect">
            <a:avLst/>
          </a:prstGeom>
          <a:noFill/>
          <a:ln/>
        </p:spPr>
        <p:txBody>
          <a:bodyPr wrap="square" lIns="0" tIns="0" rIns="0" bIns="0" rtlCol="0" anchor="ctr"/>
          <a:lstStyle/>
          <a:p>
            <a:pPr indent="0" marL="0">
              <a:buNone/>
            </a:pPr>
            <a:r>
              <a:rPr lang="en-US" sz="1500" dirty="0">
                <a:solidFill>
                  <a:schemeClr val="tx1"/>
                </a:solidFill>
              </a:rPr>
              <a:t>"1.5 × 10^8 km" · 747 dokümanda 1.934 ifade</a:t>
            </a:r>
            <a:endParaRPr lang="en-US" sz="1500" dirty="0"/>
          </a:p>
        </p:txBody>
      </p:sp>
      <p:sp>
        <p:nvSpPr>
          <p:cNvPr id="16" name="Örnek adı 3"/>
          <p:cNvSpPr txBox="1"/>
          <p:nvPr/>
        </p:nvSpPr>
        <p:spPr>
          <a:xfrm>
            <a:off x="548640" y="4389120"/>
            <a:ext cx="2286000" cy="11430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Kişisel veri</a:t>
            </a:r>
            <a:endParaRPr lang="en-US" sz="1800" dirty="0"/>
          </a:p>
        </p:txBody>
      </p:sp>
      <p:sp>
        <p:nvSpPr>
          <p:cNvPr id="17" name="Önce kartı 3"/>
          <p:cNvSpPr/>
          <p:nvPr/>
        </p:nvSpPr>
        <p:spPr>
          <a:xfrm>
            <a:off x="3017520" y="4389120"/>
            <a:ext cx="4114800" cy="1143000"/>
          </a:xfrm>
          <a:prstGeom prst="roundRect">
            <a:avLst>
              <a:gd name="adj" fmla="val 9600"/>
            </a:avLst>
          </a:prstGeom>
          <a:solidFill>
            <a:srgbClr val="FBE9EB"/>
          </a:solidFill>
          <a:ln w="12700">
            <a:solidFill>
              <a:srgbClr val="FBE9EB"/>
            </a:solidFill>
            <a:prstDash val="solid"/>
          </a:ln>
          <a:effectLst>
            <a:outerShdw sx="100000" sy="100000" kx="0" ky="0" algn="bl" rotWithShape="0" blurRad="76200" dist="25400" dir="5400000">
              <a:srgbClr val="9AA8C7">
                <a:alpha val="25000"/>
              </a:srgbClr>
            </a:outerShdw>
          </a:effectLst>
        </p:spPr>
      </p:sp>
      <p:sp>
        <p:nvSpPr>
          <p:cNvPr id="18" name="Önce metni 3"/>
          <p:cNvSpPr txBox="1"/>
          <p:nvPr/>
        </p:nvSpPr>
        <p:spPr>
          <a:xfrm>
            <a:off x="3200400" y="4480560"/>
            <a:ext cx="3749040" cy="960120"/>
          </a:xfrm>
          <a:prstGeom prst="rect">
            <a:avLst/>
          </a:prstGeom>
          <a:noFill/>
          <a:ln/>
        </p:spPr>
        <p:txBody>
          <a:bodyPr wrap="square" lIns="0" tIns="0" rIns="0" bIns="0" rtlCol="0" anchor="ctr"/>
          <a:lstStyle/>
          <a:p>
            <a:pPr indent="0" marL="0">
              <a:buNone/>
            </a:pPr>
            <a:r>
              <a:rPr lang="en-US" sz="1500" i="1" dirty="0">
                <a:solidFill>
                  <a:schemeClr val="tx1"/>
                </a:solidFill>
              </a:rPr>
              <a:t>"Media Contact: ‹ad soyad› ‹merkez› ‹telefon›"</a:t>
            </a:r>
            <a:endParaRPr lang="en-US" sz="1500" dirty="0"/>
          </a:p>
        </p:txBody>
      </p:sp>
      <p:sp>
        <p:nvSpPr>
          <p:cNvPr id="19" name="Sonra kartı 3"/>
          <p:cNvSpPr/>
          <p:nvPr/>
        </p:nvSpPr>
        <p:spPr>
          <a:xfrm>
            <a:off x="7406640" y="4389120"/>
            <a:ext cx="4206240" cy="1143000"/>
          </a:xfrm>
          <a:prstGeom prst="roundRect">
            <a:avLst>
              <a:gd name="adj" fmla="val 9600"/>
            </a:avLst>
          </a:prstGeom>
          <a:solidFill>
            <a:srgbClr val="E3F4F1"/>
          </a:solidFill>
          <a:ln w="12700">
            <a:solidFill>
              <a:srgbClr val="E3F4F1"/>
            </a:solidFill>
            <a:prstDash val="solid"/>
          </a:ln>
          <a:effectLst>
            <a:outerShdw sx="100000" sy="100000" kx="0" ky="0" algn="bl" rotWithShape="0" blurRad="76200" dist="25400" dir="5400000">
              <a:srgbClr val="9AA8C7">
                <a:alpha val="25000"/>
              </a:srgbClr>
            </a:outerShdw>
          </a:effectLst>
        </p:spPr>
      </p:sp>
      <p:sp>
        <p:nvSpPr>
          <p:cNvPr id="20" name="Sonra metni 3"/>
          <p:cNvSpPr txBox="1"/>
          <p:nvPr/>
        </p:nvSpPr>
        <p:spPr>
          <a:xfrm>
            <a:off x="7589520" y="4480560"/>
            <a:ext cx="3840480" cy="960120"/>
          </a:xfrm>
          <a:prstGeom prst="rect">
            <a:avLst/>
          </a:prstGeom>
          <a:noFill/>
          <a:ln/>
        </p:spPr>
        <p:txBody>
          <a:bodyPr wrap="square" lIns="0" tIns="0" rIns="0" bIns="0" rtlCol="0" anchor="ctr"/>
          <a:lstStyle/>
          <a:p>
            <a:pPr indent="0" marL="0">
              <a:buNone/>
            </a:pPr>
            <a:r>
              <a:rPr lang="en-US" sz="1500" dirty="0">
                <a:solidFill>
                  <a:schemeClr val="tx1"/>
                </a:solidFill>
              </a:rPr>
              <a:t>Künye silindi · 348 e-posta, 183 telefon → 0</a:t>
            </a:r>
            <a:endParaRPr lang="en-US" sz="1500" dirty="0"/>
          </a:p>
        </p:txBody>
      </p:sp>
      <p:sp>
        <p:nvSpPr>
          <p:cNvPr id="21" name="Cleaning notu"/>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400" dirty="0">
                <a:solidFill>
                  <a:schemeClr val="tx2"/>
                </a:solidFill>
              </a:rPr>
              <a:t>Sayılar, birimler ve formüller silinmedi · extraction başarısız: 186 / 17.520 (%1,1) · 20 öncesi/sonrası örnek: reports/cleaning_examples.md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Tekrar ayıklama</a:t>
            </a:r>
            <a:endParaRPr lang="en-US" sz="3200" dirty="0"/>
          </a:p>
        </p:txBody>
      </p:sp>
      <p:sp>
        <p:nvSpPr>
          <p:cNvPr id="4" name="Exact sayı"/>
          <p:cNvSpPr txBox="1"/>
          <p:nvPr/>
        </p:nvSpPr>
        <p:spPr>
          <a:xfrm>
            <a:off x="548640" y="1371600"/>
            <a:ext cx="347472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46</a:t>
            </a:r>
            <a:endParaRPr lang="en-US" sz="4000" dirty="0"/>
          </a:p>
        </p:txBody>
      </p:sp>
      <p:sp>
        <p:nvSpPr>
          <p:cNvPr id="5" name="Exact sayı açıklama"/>
          <p:cNvSpPr txBox="1"/>
          <p:nvPr/>
        </p:nvSpPr>
        <p:spPr>
          <a:xfrm>
            <a:off x="548640" y="2148840"/>
            <a:ext cx="3474720" cy="457200"/>
          </a:xfrm>
          <a:prstGeom prst="rect">
            <a:avLst/>
          </a:prstGeom>
          <a:noFill/>
          <a:ln/>
        </p:spPr>
        <p:txBody>
          <a:bodyPr wrap="square" lIns="0" tIns="0" rIns="0" bIns="0" rtlCol="0" anchor="t"/>
          <a:lstStyle/>
          <a:p>
            <a:pPr indent="0" marL="0">
              <a:buNone/>
            </a:pPr>
            <a:r>
              <a:rPr lang="en-US" sz="1400" dirty="0">
                <a:solidFill>
                  <a:schemeClr val="tx2"/>
                </a:solidFill>
              </a:rPr>
              <a:t>birebir tekrar (SHA-256)</a:t>
            </a:r>
            <a:endParaRPr lang="en-US" sz="1400" dirty="0"/>
          </a:p>
        </p:txBody>
      </p:sp>
      <p:sp>
        <p:nvSpPr>
          <p:cNvPr id="6" name="Near sayı"/>
          <p:cNvSpPr txBox="1"/>
          <p:nvPr/>
        </p:nvSpPr>
        <p:spPr>
          <a:xfrm>
            <a:off x="4343400" y="1371600"/>
            <a:ext cx="347472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90</a:t>
            </a:r>
            <a:endParaRPr lang="en-US" sz="4000" dirty="0"/>
          </a:p>
        </p:txBody>
      </p:sp>
      <p:sp>
        <p:nvSpPr>
          <p:cNvPr id="7" name="Near sayı açıklama"/>
          <p:cNvSpPr txBox="1"/>
          <p:nvPr/>
        </p:nvSpPr>
        <p:spPr>
          <a:xfrm>
            <a:off x="4343400" y="2148840"/>
            <a:ext cx="3474720" cy="457200"/>
          </a:xfrm>
          <a:prstGeom prst="rect">
            <a:avLst/>
          </a:prstGeom>
          <a:noFill/>
          <a:ln/>
        </p:spPr>
        <p:txBody>
          <a:bodyPr wrap="square" lIns="0" tIns="0" rIns="0" bIns="0" rtlCol="0" anchor="t"/>
          <a:lstStyle/>
          <a:p>
            <a:pPr indent="0" marL="0">
              <a:buNone/>
            </a:pPr>
            <a:r>
              <a:rPr lang="en-US" sz="1400" dirty="0">
                <a:solidFill>
                  <a:schemeClr val="tx2"/>
                </a:solidFill>
              </a:rPr>
              <a:t>yakın tekrar (MinHash, Jaccard ≥ 0,85)</a:t>
            </a:r>
            <a:endParaRPr lang="en-US" sz="1400" dirty="0"/>
          </a:p>
        </p:txBody>
      </p:sp>
      <p:sp>
        <p:nvSpPr>
          <p:cNvPr id="8" name="Repost sayı"/>
          <p:cNvSpPr txBox="1"/>
          <p:nvPr/>
        </p:nvSpPr>
        <p:spPr>
          <a:xfrm>
            <a:off x="8138160" y="1371600"/>
            <a:ext cx="347472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140</a:t>
            </a:r>
            <a:endParaRPr lang="en-US" sz="4000" dirty="0"/>
          </a:p>
        </p:txBody>
      </p:sp>
      <p:sp>
        <p:nvSpPr>
          <p:cNvPr id="9" name="Repost sayı açıklama"/>
          <p:cNvSpPr txBox="1"/>
          <p:nvPr/>
        </p:nvSpPr>
        <p:spPr>
          <a:xfrm>
            <a:off x="8138160" y="2148840"/>
            <a:ext cx="3474720" cy="457200"/>
          </a:xfrm>
          <a:prstGeom prst="rect">
            <a:avLst/>
          </a:prstGeom>
          <a:noFill/>
          <a:ln/>
        </p:spPr>
        <p:txBody>
          <a:bodyPr wrap="square" lIns="0" tIns="0" rIns="0" bIns="0" rtlCol="0" anchor="t"/>
          <a:lstStyle/>
          <a:p>
            <a:pPr indent="0" marL="0">
              <a:buNone/>
            </a:pPr>
            <a:r>
              <a:rPr lang="en-US" sz="1400" dirty="0">
                <a:solidFill>
                  <a:schemeClr val="tx2"/>
                </a:solidFill>
              </a:rPr>
              <a:t>yeniden yayın tekrarı (2. geçiş)</a:t>
            </a:r>
            <a:endParaRPr lang="en-US" sz="1400" dirty="0"/>
          </a:p>
        </p:txBody>
      </p:sp>
      <p:sp>
        <p:nvSpPr>
          <p:cNvPr id="10" name="Eşik doğrulama kartı"/>
          <p:cNvSpPr/>
          <p:nvPr/>
        </p:nvSpPr>
        <p:spPr>
          <a:xfrm>
            <a:off x="548640" y="2971800"/>
            <a:ext cx="539496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11" name="Eşik başlık"/>
          <p:cNvSpPr txBox="1"/>
          <p:nvPr/>
        </p:nvSpPr>
        <p:spPr>
          <a:xfrm>
            <a:off x="822960" y="3154680"/>
            <a:ext cx="493776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Eşik doğrulaması (50 aday çift)</a:t>
            </a:r>
            <a:endParaRPr lang="en-US" sz="2000" dirty="0"/>
          </a:p>
        </p:txBody>
      </p:sp>
      <p:sp>
        <p:nvSpPr>
          <p:cNvPr id="12" name="Eşik liste"/>
          <p:cNvSpPr txBox="1"/>
          <p:nvPr/>
        </p:nvSpPr>
        <p:spPr>
          <a:xfrm>
            <a:off x="822960" y="3703320"/>
            <a:ext cx="493776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Eşik üstü 25 çiftin 25'i gerçek tekrar → hatalı eleme 0</a:t>
            </a:r>
            <a:endParaRPr lang="en-US" sz="1600" dirty="0"/>
          </a:p>
          <a:p>
            <a:pPr marL="342900" indent="-342900">
              <a:spcAft>
                <a:spcPts val="600"/>
              </a:spcAft>
              <a:buSzPct val="100000"/>
              <a:buChar char="•"/>
            </a:pPr>
            <a:r>
              <a:rPr lang="en-US" sz="1600" dirty="0">
                <a:solidFill>
                  <a:schemeClr val="tx1"/>
                </a:solidFill>
              </a:rPr>
              <a:t>Eşik altı 25 çiftin 18'i de tekrardı (çoğu APOD yeniden yayını)</a:t>
            </a:r>
            <a:endParaRPr lang="en-US" sz="1600" dirty="0"/>
          </a:p>
          <a:p>
            <a:pPr marL="342900" indent="-342900">
              <a:spcAft>
                <a:spcPts val="600"/>
              </a:spcAft>
              <a:buSzPct val="100000"/>
              <a:buChar char="•"/>
            </a:pPr>
            <a:r>
              <a:rPr lang="en-US" sz="1600" dirty="0">
                <a:solidFill>
                  <a:schemeClr val="tx1"/>
                </a:solidFill>
              </a:rPr>
              <a:t>→ yalnız APOD/NASA için ikinci geçiş; 33 çift farklı kümelerdeydi (sızıntı riski)</a:t>
            </a:r>
            <a:endParaRPr lang="en-US" sz="1600" dirty="0"/>
          </a:p>
        </p:txBody>
      </p:sp>
      <p:sp>
        <p:nvSpPr>
          <p:cNvPr id="13" name="Neden eşik düşmedi kartı"/>
          <p:cNvSpPr/>
          <p:nvPr/>
        </p:nvSpPr>
        <p:spPr>
          <a:xfrm>
            <a:off x="6217920" y="2971800"/>
            <a:ext cx="539496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14" name="Neden başlık"/>
          <p:cNvSpPr txBox="1"/>
          <p:nvPr/>
        </p:nvSpPr>
        <p:spPr>
          <a:xfrm>
            <a:off x="6492240" y="3154680"/>
            <a:ext cx="493776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Neden genel eşik düşürülmedi?</a:t>
            </a:r>
            <a:endParaRPr lang="en-US" sz="2000" dirty="0"/>
          </a:p>
        </p:txBody>
      </p:sp>
      <p:sp>
        <p:nvSpPr>
          <p:cNvPr id="15" name="Neden metni"/>
          <p:cNvSpPr txBox="1"/>
          <p:nvPr/>
        </p:nvSpPr>
        <p:spPr>
          <a:xfrm>
            <a:off x="6492240" y="3703320"/>
            <a:ext cx="4937760" cy="2194560"/>
          </a:xfrm>
          <a:prstGeom prst="rect">
            <a:avLst/>
          </a:prstGeom>
          <a:noFill/>
          <a:ln/>
        </p:spPr>
        <p:txBody>
          <a:bodyPr wrap="square" lIns="0" tIns="0" rIns="0" bIns="0" rtlCol="0" anchor="t"/>
          <a:lstStyle/>
          <a:p>
            <a:pPr indent="0" marL="0">
              <a:buNone/>
            </a:pPr>
            <a:r>
              <a:rPr lang="en-US" sz="1600" dirty="0">
                <a:solidFill>
                  <a:schemeClr val="tx1"/>
                </a:solidFill>
              </a:rPr>
              <a:t>NASA'nın Jüpiter/Neptün uydu sayfaları ortak şablon paragrafına rağmen farklı uyduların keşif tarihi ve boyutunu taşıyor (Jaccard 0,74'e kadar). Eşik düşerse bu bilgiler silinirdi.</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Veri erimesi: 17.520 → 16.284</a:t>
            </a:r>
            <a:endParaRPr lang="en-US" sz="3200" dirty="0"/>
          </a:p>
        </p:txBody>
      </p:sp>
      <p:graphicFrame>
        <p:nvGraphicFramePr>
          <p:cNvPr id="4" name="Erime grafiği" descr=""/>
          <p:cNvGraphicFramePr/>
          <p:nvPr/>
        </p:nvGraphicFramePr>
        <p:xfrm>
          <a:off x="548640" y="128016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5" name="Neden listesi başlık"/>
          <p:cNvSpPr txBox="1"/>
          <p:nvPr/>
        </p:nvSpPr>
        <p:spPr>
          <a:xfrm>
            <a:off x="7498080" y="1325880"/>
            <a:ext cx="411480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Çıkarılma nedenleri</a:t>
            </a:r>
            <a:endParaRPr lang="en-US" sz="2000" dirty="0"/>
          </a:p>
        </p:txBody>
      </p:sp>
      <p:graphicFrame>
        <p:nvGraphicFramePr>
          <p:cNvPr id="9" name="Neden tablosu"/>
          <p:cNvGraphicFramePr>
            <a:graphicFrameLocks noGrp="1"/>
          </p:cNvGraphicFramePr>
          <p:nvPr>
            <p:extLst>
              <p:ext uri="{D42A27DB-BD31-4B8C-83A1-F6EECF244321}">
                <p14:modId xmlns:p14="http://schemas.microsoft.com/office/powerpoint/2010/main" val="1579011935"/>
              </p:ext>
            </p:extLst>
          </p:nvPr>
        </p:nvGraphicFramePr>
        <p:xfrm>
          <a:off x="7498080" y="1874520"/>
          <a:ext cx="4114800" cy="914400"/>
        </p:xfrm>
        <a:graphic>
          <a:graphicData uri="http://schemas.openxmlformats.org/drawingml/2006/table">
            <a:tbl>
              <a:tblPr/>
              <a:tblGrid>
                <a:gridCol w="3200400"/>
                <a:gridCol w="914400"/>
              </a:tblGrid>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Alan dışı Wikipedia kategorisi</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356</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300 karakterden kısa</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242</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Alan dışı (terim yoğunluğu)</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150</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Yeniden yayın tekrarı</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140</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İçerik dışı PDF bölümü</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135</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Yakın tekrar</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90</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Extraction hatası</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Birebir tekrar</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46</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2976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Diğer (dil, kaynakça, bozuk…)</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latin typeface="Calibri" pitchFamily="34" charset="0"/>
                          <a:ea typeface="Calibri" pitchFamily="34" charset="-122"/>
                          <a:cs typeface="Calibri" pitchFamily="34" charset="-120"/>
                        </a:rPr>
                        <a:t>26</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Final corpus</a:t>
            </a:r>
            <a:endParaRPr lang="en-US" sz="3200" dirty="0"/>
          </a:p>
        </p:txBody>
      </p:sp>
      <p:sp>
        <p:nvSpPr>
          <p:cNvPr id="4" name="Corpus doküman"/>
          <p:cNvSpPr txBox="1"/>
          <p:nvPr/>
        </p:nvSpPr>
        <p:spPr>
          <a:xfrm>
            <a:off x="548640" y="1280160"/>
            <a:ext cx="265176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16.284</a:t>
            </a:r>
            <a:endParaRPr lang="en-US" sz="4000" dirty="0"/>
          </a:p>
        </p:txBody>
      </p:sp>
      <p:sp>
        <p:nvSpPr>
          <p:cNvPr id="5" name="Corpus doküman açıklama"/>
          <p:cNvSpPr txBox="1"/>
          <p:nvPr/>
        </p:nvSpPr>
        <p:spPr>
          <a:xfrm>
            <a:off x="548640" y="2057400"/>
            <a:ext cx="2651760" cy="457200"/>
          </a:xfrm>
          <a:prstGeom prst="rect">
            <a:avLst/>
          </a:prstGeom>
          <a:noFill/>
          <a:ln/>
        </p:spPr>
        <p:txBody>
          <a:bodyPr wrap="square" lIns="0" tIns="0" rIns="0" bIns="0" rtlCol="0" anchor="t"/>
          <a:lstStyle/>
          <a:p>
            <a:pPr indent="0" marL="0">
              <a:buNone/>
            </a:pPr>
            <a:r>
              <a:rPr lang="en-US" sz="1400" dirty="0">
                <a:solidFill>
                  <a:schemeClr val="tx2"/>
                </a:solidFill>
              </a:rPr>
              <a:t>doküman</a:t>
            </a:r>
            <a:endParaRPr lang="en-US" sz="1400" dirty="0"/>
          </a:p>
        </p:txBody>
      </p:sp>
      <p:sp>
        <p:nvSpPr>
          <p:cNvPr id="6" name="Corpus token"/>
          <p:cNvSpPr txBox="1"/>
          <p:nvPr/>
        </p:nvSpPr>
        <p:spPr>
          <a:xfrm>
            <a:off x="3291840" y="1280160"/>
            <a:ext cx="265176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16,2 M</a:t>
            </a:r>
            <a:endParaRPr lang="en-US" sz="4000" dirty="0"/>
          </a:p>
        </p:txBody>
      </p:sp>
      <p:sp>
        <p:nvSpPr>
          <p:cNvPr id="7" name="Corpus token açıklama"/>
          <p:cNvSpPr txBox="1"/>
          <p:nvPr/>
        </p:nvSpPr>
        <p:spPr>
          <a:xfrm>
            <a:off x="3291840" y="2057400"/>
            <a:ext cx="2651760" cy="457200"/>
          </a:xfrm>
          <a:prstGeom prst="rect">
            <a:avLst/>
          </a:prstGeom>
          <a:noFill/>
          <a:ln/>
        </p:spPr>
        <p:txBody>
          <a:bodyPr wrap="square" lIns="0" tIns="0" rIns="0" bIns="0" rtlCol="0" anchor="t"/>
          <a:lstStyle/>
          <a:p>
            <a:pPr indent="0" marL="0">
              <a:buNone/>
            </a:pPr>
            <a:r>
              <a:rPr lang="en-US" sz="1400" dirty="0">
                <a:solidFill>
                  <a:schemeClr val="tx2"/>
                </a:solidFill>
              </a:rPr>
              <a:t>token · 10,5 M kelime</a:t>
            </a:r>
            <a:endParaRPr lang="en-US" sz="1400" dirty="0"/>
          </a:p>
        </p:txBody>
      </p:sp>
      <p:sp>
        <p:nvSpPr>
          <p:cNvPr id="8" name="Corpus chunk"/>
          <p:cNvSpPr txBox="1"/>
          <p:nvPr/>
        </p:nvSpPr>
        <p:spPr>
          <a:xfrm>
            <a:off x="548640" y="2697480"/>
            <a:ext cx="265176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33.997</a:t>
            </a:r>
            <a:endParaRPr lang="en-US" sz="4000" dirty="0"/>
          </a:p>
        </p:txBody>
      </p:sp>
      <p:sp>
        <p:nvSpPr>
          <p:cNvPr id="9" name="Corpus chunk açıklama"/>
          <p:cNvSpPr txBox="1"/>
          <p:nvPr/>
        </p:nvSpPr>
        <p:spPr>
          <a:xfrm>
            <a:off x="548640" y="3474720"/>
            <a:ext cx="2651760" cy="457200"/>
          </a:xfrm>
          <a:prstGeom prst="rect">
            <a:avLst/>
          </a:prstGeom>
          <a:noFill/>
          <a:ln/>
        </p:spPr>
        <p:txBody>
          <a:bodyPr wrap="square" lIns="0" tIns="0" rIns="0" bIns="0" rtlCol="0" anchor="t"/>
          <a:lstStyle/>
          <a:p>
            <a:pPr indent="0" marL="0">
              <a:buNone/>
            </a:pPr>
            <a:r>
              <a:rPr lang="en-US" sz="1400" dirty="0">
                <a:solidFill>
                  <a:schemeClr val="tx2"/>
                </a:solidFill>
              </a:rPr>
              <a:t>chunk (≤ 1.024 token)</a:t>
            </a:r>
            <a:endParaRPr lang="en-US" sz="1400" dirty="0"/>
          </a:p>
        </p:txBody>
      </p:sp>
      <p:sp>
        <p:nvSpPr>
          <p:cNvPr id="10" name="Corpus dil"/>
          <p:cNvSpPr txBox="1"/>
          <p:nvPr/>
        </p:nvSpPr>
        <p:spPr>
          <a:xfrm>
            <a:off x="3291840" y="2697480"/>
            <a:ext cx="265176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%16,9</a:t>
            </a:r>
            <a:endParaRPr lang="en-US" sz="4000" dirty="0"/>
          </a:p>
        </p:txBody>
      </p:sp>
      <p:sp>
        <p:nvSpPr>
          <p:cNvPr id="11" name="Corpus dil açıklama"/>
          <p:cNvSpPr txBox="1"/>
          <p:nvPr/>
        </p:nvSpPr>
        <p:spPr>
          <a:xfrm>
            <a:off x="3291840" y="3474720"/>
            <a:ext cx="2651760" cy="457200"/>
          </a:xfrm>
          <a:prstGeom prst="rect">
            <a:avLst/>
          </a:prstGeom>
          <a:noFill/>
          <a:ln/>
        </p:spPr>
        <p:txBody>
          <a:bodyPr wrap="square" lIns="0" tIns="0" rIns="0" bIns="0" rtlCol="0" anchor="t"/>
          <a:lstStyle/>
          <a:p>
            <a:pPr indent="0" marL="0">
              <a:buNone/>
            </a:pPr>
            <a:r>
              <a:rPr lang="en-US" sz="1400" dirty="0">
                <a:solidFill>
                  <a:schemeClr val="tx2"/>
                </a:solidFill>
              </a:rPr>
              <a:t>Türkçe token (İngilizce %83,1)</a:t>
            </a:r>
            <a:endParaRPr lang="en-US" sz="1400" dirty="0"/>
          </a:p>
        </p:txBody>
      </p:sp>
      <p:sp>
        <p:nvSpPr>
          <p:cNvPr id="12" name="Ayrım kartı"/>
          <p:cNvSpPr/>
          <p:nvPr/>
        </p:nvSpPr>
        <p:spPr>
          <a:xfrm>
            <a:off x="548640" y="4206240"/>
            <a:ext cx="539496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13" name="Ayrım başlık"/>
          <p:cNvSpPr txBox="1"/>
          <p:nvPr/>
        </p:nvSpPr>
        <p:spPr>
          <a:xfrm>
            <a:off x="777240" y="4343400"/>
            <a:ext cx="493776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Train / validation / test</a:t>
            </a:r>
            <a:endParaRPr lang="en-US" sz="1800" dirty="0"/>
          </a:p>
        </p:txBody>
      </p:sp>
      <p:sp>
        <p:nvSpPr>
          <p:cNvPr id="14" name="Ayrım metni"/>
          <p:cNvSpPr txBox="1"/>
          <p:nvPr/>
        </p:nvSpPr>
        <p:spPr>
          <a:xfrm>
            <a:off x="777240" y="4800600"/>
            <a:ext cx="4937760" cy="1188720"/>
          </a:xfrm>
          <a:prstGeom prst="rect">
            <a:avLst/>
          </a:prstGeom>
          <a:noFill/>
          <a:ln/>
        </p:spPr>
        <p:txBody>
          <a:bodyPr wrap="square" lIns="0" tIns="0" rIns="0" bIns="0" rtlCol="0" anchor="t"/>
          <a:lstStyle/>
          <a:p>
            <a:pPr indent="0" marL="0">
              <a:buNone/>
            </a:pPr>
            <a:r>
              <a:rPr lang="en-US" sz="1600" dirty="0">
                <a:solidFill>
                  <a:schemeClr val="tx1"/>
                </a:solidFill>
              </a:rPr>
              <a:t>14.660 / 819 / 805 doküman · grup düzeyinde, seed 42 · EN/TR aynı madde aynı kümede · kümeler arası çakışma 0</a:t>
            </a:r>
            <a:endParaRPr lang="en-US" sz="1600" dirty="0"/>
          </a:p>
        </p:txBody>
      </p:sp>
      <p:graphicFrame>
        <p:nvGraphicFramePr>
          <p:cNvPr id="15" name="Alt konu grafiği" descr=""/>
          <p:cNvGraphicFramePr/>
          <p:nvPr/>
        </p:nvGraphicFramePr>
        <p:xfrm>
          <a:off x="6217920" y="1280160"/>
          <a:ext cx="539496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Instruction Dataset v1.0: 3.388 Türkçe örnek</a:t>
            </a:r>
            <a:endParaRPr lang="en-US" sz="3200" dirty="0"/>
          </a:p>
        </p:txBody>
      </p:sp>
      <p:graphicFrame>
        <p:nvGraphicFramePr>
          <p:cNvPr id="4" name="Görev grafiği" descr=""/>
          <p:cNvGraphicFramePr/>
          <p:nvPr/>
        </p:nvGraphicFramePr>
        <p:xfrm>
          <a:off x="548640" y="128016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5" name="Instruction ayrım"/>
          <p:cNvSpPr txBox="1"/>
          <p:nvPr/>
        </p:nvSpPr>
        <p:spPr>
          <a:xfrm>
            <a:off x="7680960" y="1325880"/>
            <a:ext cx="393192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3.078</a:t>
            </a:r>
            <a:endParaRPr lang="en-US" sz="4000" dirty="0"/>
          </a:p>
        </p:txBody>
      </p:sp>
      <p:sp>
        <p:nvSpPr>
          <p:cNvPr id="6" name="Instruction ayrım açıklama"/>
          <p:cNvSpPr txBox="1"/>
          <p:nvPr/>
        </p:nvSpPr>
        <p:spPr>
          <a:xfrm>
            <a:off x="7680960" y="2103120"/>
            <a:ext cx="3931920" cy="457200"/>
          </a:xfrm>
          <a:prstGeom prst="rect">
            <a:avLst/>
          </a:prstGeom>
          <a:noFill/>
          <a:ln/>
        </p:spPr>
        <p:txBody>
          <a:bodyPr wrap="square" lIns="0" tIns="0" rIns="0" bIns="0" rtlCol="0" anchor="t"/>
          <a:lstStyle/>
          <a:p>
            <a:pPr indent="0" marL="0">
              <a:buNone/>
            </a:pPr>
            <a:r>
              <a:rPr lang="en-US" sz="1400" dirty="0">
                <a:solidFill>
                  <a:schemeClr val="tx2"/>
                </a:solidFill>
              </a:rPr>
              <a:t>train · validation 146 · test 164</a:t>
            </a:r>
            <a:endParaRPr lang="en-US" sz="1400" dirty="0"/>
          </a:p>
        </p:txBody>
      </p:sp>
      <p:sp>
        <p:nvSpPr>
          <p:cNvPr id="7" name="Instruction bilgi listesi"/>
          <p:cNvSpPr txBox="1"/>
          <p:nvPr/>
        </p:nvSpPr>
        <p:spPr>
          <a:xfrm>
            <a:off x="7680960" y="2743200"/>
            <a:ext cx="3931920" cy="3383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Kaynak: corpus train'inden 320 doküman (2.840), Stack Exchange (401), kapsam dışı (147)</a:t>
            </a:r>
            <a:endParaRPr lang="en-US" sz="1600" dirty="0"/>
          </a:p>
          <a:p>
            <a:pPr marL="342900" indent="-342900">
              <a:spcAft>
                <a:spcPts val="600"/>
              </a:spcAft>
              <a:buSzPct val="100000"/>
              <a:buChar char="•"/>
            </a:pPr>
            <a:r>
              <a:rPr lang="en-US" sz="1500" dirty="0">
                <a:solidFill>
                  <a:schemeClr val="tx1"/>
                </a:solidFill>
              </a:rPr>
              <a:t>Seviye: başlangıç %35 · orta %33 · ileri %32</a:t>
            </a:r>
            <a:endParaRPr lang="en-US" sz="1600" dirty="0"/>
          </a:p>
          <a:p>
            <a:pPr marL="342900" indent="-342900">
              <a:spcAft>
                <a:spcPts val="600"/>
              </a:spcAft>
              <a:buSzPct val="100000"/>
              <a:buChar char="•"/>
            </a:pPr>
            <a:r>
              <a:rPr lang="en-US" sz="1500" dirty="0">
                <a:solidFill>
                  <a:schemeClr val="tx1"/>
                </a:solidFill>
              </a:rPr>
              <a:t>Corpus test/validation dokümanı SFT eğitimine girmez</a:t>
            </a:r>
            <a:endParaRPr lang="en-US" sz="1600" dirty="0"/>
          </a:p>
          <a:p>
            <a:pPr marL="342900" indent="-342900">
              <a:spcAft>
                <a:spcPts val="600"/>
              </a:spcAft>
              <a:buSzPct val="100000"/>
              <a:buChar char="•"/>
            </a:pPr>
            <a:r>
              <a:rPr lang="en-US" sz="1500" dirty="0">
                <a:solidFill>
                  <a:schemeClr val="tx1"/>
                </a:solidFill>
              </a:rPr>
              <a:t>Değerlendirme setleriyle 8-gram örtüşmesi 0</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Instruction setinden üç örnek</a:t>
            </a:r>
            <a:endParaRPr lang="en-US" sz="3200" dirty="0"/>
          </a:p>
        </p:txBody>
      </p:sp>
      <p:sp>
        <p:nvSpPr>
          <p:cNvPr id="4" name="Örnek kartı 1"/>
          <p:cNvSpPr/>
          <p:nvPr/>
        </p:nvSpPr>
        <p:spPr>
          <a:xfrm>
            <a:off x="548640" y="1325880"/>
            <a:ext cx="3520440" cy="484632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5" name="Örnek başlık 1"/>
          <p:cNvSpPr txBox="1"/>
          <p:nvPr/>
        </p:nvSpPr>
        <p:spPr>
          <a:xfrm>
            <a:off x="822960" y="1508760"/>
            <a:ext cx="3017520" cy="7772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Çoktan seçmeli soru üretimi</a:t>
            </a:r>
            <a:endParaRPr lang="en-US" sz="2000" dirty="0"/>
          </a:p>
        </p:txBody>
      </p:sp>
      <p:sp>
        <p:nvSpPr>
          <p:cNvPr id="6" name="Örnek etiket 1"/>
          <p:cNvSpPr txBox="1"/>
          <p:nvPr/>
        </p:nvSpPr>
        <p:spPr>
          <a:xfrm>
            <a:off x="822960" y="2286000"/>
            <a:ext cx="3017520" cy="365760"/>
          </a:xfrm>
          <a:prstGeom prst="rect">
            <a:avLst/>
          </a:prstGeom>
          <a:noFill/>
          <a:ln/>
        </p:spPr>
        <p:txBody>
          <a:bodyPr wrap="square" lIns="0" tIns="0" rIns="0" bIns="0" rtlCol="0" anchor="t"/>
          <a:lstStyle/>
          <a:p>
            <a:pPr indent="0" marL="0">
              <a:buNone/>
            </a:pPr>
            <a:r>
              <a:rPr lang="en-US" sz="1400" b="1" dirty="0">
                <a:solidFill>
                  <a:schemeClr val="accent1"/>
                </a:solidFill>
              </a:rPr>
              <a:t>orta · INS_00871</a:t>
            </a:r>
            <a:endParaRPr lang="en-US" sz="1400" dirty="0"/>
          </a:p>
        </p:txBody>
      </p:sp>
      <p:sp>
        <p:nvSpPr>
          <p:cNvPr id="7" name="Örnek talimat 1"/>
          <p:cNvSpPr txBox="1"/>
          <p:nvPr/>
        </p:nvSpPr>
        <p:spPr>
          <a:xfrm>
            <a:off x="822960" y="2743200"/>
            <a:ext cx="3017520" cy="1691640"/>
          </a:xfrm>
          <a:prstGeom prst="rect">
            <a:avLst/>
          </a:prstGeom>
          <a:noFill/>
          <a:ln/>
        </p:spPr>
        <p:txBody>
          <a:bodyPr wrap="square" lIns="0" tIns="0" rIns="0" bIns="0" rtlCol="0" anchor="t"/>
          <a:lstStyle/>
          <a:p>
            <a:pPr indent="0" marL="0">
              <a:buNone/>
            </a:pPr>
            <a:r>
              <a:rPr lang="en-US" sz="1500" i="1" dirty="0">
                <a:solidFill>
                  <a:schemeClr val="tx1"/>
                </a:solidFill>
              </a:rPr>
              <a:t>Talimat: "…Pioneer 10, 1976 yılının Şubat ayında Satürn'ün yörüngesini geçti… Jüpiter'in yaklaşık 800 milyon km'lik manyetik kuyruğu…"</a:t>
            </a:r>
            <a:endParaRPr lang="en-US" sz="1500" dirty="0"/>
          </a:p>
        </p:txBody>
      </p:sp>
      <p:sp>
        <p:nvSpPr>
          <p:cNvPr id="8" name="Örnek cevap 1"/>
          <p:cNvSpPr txBox="1"/>
          <p:nvPr/>
        </p:nvSpPr>
        <p:spPr>
          <a:xfrm>
            <a:off x="822960" y="4480560"/>
            <a:ext cx="3017520" cy="1554480"/>
          </a:xfrm>
          <a:prstGeom prst="rect">
            <a:avLst/>
          </a:prstGeom>
          <a:noFill/>
          <a:ln/>
        </p:spPr>
        <p:txBody>
          <a:bodyPr wrap="square" lIns="0" tIns="0" rIns="0" bIns="0" rtlCol="0" anchor="t"/>
          <a:lstStyle/>
          <a:p>
            <a:pPr indent="0" marL="0">
              <a:buNone/>
            </a:pPr>
            <a:r>
              <a:rPr lang="en-US" sz="1500" dirty="0">
                <a:solidFill>
                  <a:schemeClr val="tx1"/>
                </a:solidFill>
              </a:rPr>
              <a:t>Cevap (JSON): soru + 4 şık + "dogru_cevap": "B" + açıklama</a:t>
            </a:r>
            <a:endParaRPr lang="en-US" sz="1500" dirty="0"/>
          </a:p>
        </p:txBody>
      </p:sp>
      <p:sp>
        <p:nvSpPr>
          <p:cNvPr id="9" name="Örnek kartı 2"/>
          <p:cNvSpPr/>
          <p:nvPr/>
        </p:nvSpPr>
        <p:spPr>
          <a:xfrm>
            <a:off x="4297680" y="1325880"/>
            <a:ext cx="3520440" cy="484632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10" name="Örnek başlık 2"/>
          <p:cNvSpPr txBox="1"/>
          <p:nvPr/>
        </p:nvSpPr>
        <p:spPr>
          <a:xfrm>
            <a:off x="4572000" y="1508760"/>
            <a:ext cx="3017520" cy="7772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Seviyeli anlatım</a:t>
            </a:r>
            <a:endParaRPr lang="en-US" sz="2000" dirty="0"/>
          </a:p>
        </p:txBody>
      </p:sp>
      <p:sp>
        <p:nvSpPr>
          <p:cNvPr id="11" name="Örnek etiket 2"/>
          <p:cNvSpPr txBox="1"/>
          <p:nvPr/>
        </p:nvSpPr>
        <p:spPr>
          <a:xfrm>
            <a:off x="4572000" y="2286000"/>
            <a:ext cx="3017520" cy="365760"/>
          </a:xfrm>
          <a:prstGeom prst="rect">
            <a:avLst/>
          </a:prstGeom>
          <a:noFill/>
          <a:ln/>
        </p:spPr>
        <p:txBody>
          <a:bodyPr wrap="square" lIns="0" tIns="0" rIns="0" bIns="0" rtlCol="0" anchor="t"/>
          <a:lstStyle/>
          <a:p>
            <a:pPr indent="0" marL="0">
              <a:buNone/>
            </a:pPr>
            <a:r>
              <a:rPr lang="en-US" sz="1400" b="1" dirty="0">
                <a:solidFill>
                  <a:schemeClr val="accent2"/>
                </a:solidFill>
              </a:rPr>
              <a:t>başlangıç · INS_01575</a:t>
            </a:r>
            <a:endParaRPr lang="en-US" sz="1400" dirty="0"/>
          </a:p>
        </p:txBody>
      </p:sp>
      <p:sp>
        <p:nvSpPr>
          <p:cNvPr id="12" name="Örnek talimat 2"/>
          <p:cNvSpPr txBox="1"/>
          <p:nvPr/>
        </p:nvSpPr>
        <p:spPr>
          <a:xfrm>
            <a:off x="4572000" y="2743200"/>
            <a:ext cx="3017520" cy="1691640"/>
          </a:xfrm>
          <a:prstGeom prst="rect">
            <a:avLst/>
          </a:prstGeom>
          <a:noFill/>
          <a:ln/>
        </p:spPr>
        <p:txBody>
          <a:bodyPr wrap="square" lIns="0" tIns="0" rIns="0" bIns="0" rtlCol="0" anchor="t"/>
          <a:lstStyle/>
          <a:p>
            <a:pPr indent="0" marL="0">
              <a:buNone/>
            </a:pPr>
            <a:r>
              <a:rPr lang="en-US" sz="1500" i="1" dirty="0">
                <a:solidFill>
                  <a:schemeClr val="tx1"/>
                </a:solidFill>
              </a:rPr>
              <a:t>Talimat: "Başlangıç seviyesindeki bir öğrenciye evrenin genişlemesi fikrinin nasıl keşfedildiğini anlat."</a:t>
            </a:r>
            <a:endParaRPr lang="en-US" sz="1500" dirty="0"/>
          </a:p>
        </p:txBody>
      </p:sp>
      <p:sp>
        <p:nvSpPr>
          <p:cNvPr id="13" name="Örnek cevap 2"/>
          <p:cNvSpPr txBox="1"/>
          <p:nvPr/>
        </p:nvSpPr>
        <p:spPr>
          <a:xfrm>
            <a:off x="4572000" y="4480560"/>
            <a:ext cx="3017520" cy="1554480"/>
          </a:xfrm>
          <a:prstGeom prst="rect">
            <a:avLst/>
          </a:prstGeom>
          <a:noFill/>
          <a:ln/>
        </p:spPr>
        <p:txBody>
          <a:bodyPr wrap="square" lIns="0" tIns="0" rIns="0" bIns="0" rtlCol="0" anchor="t"/>
          <a:lstStyle/>
          <a:p>
            <a:pPr indent="0" marL="0">
              <a:buNone/>
            </a:pPr>
            <a:r>
              <a:rPr lang="en-US" sz="1500" dirty="0">
                <a:solidFill>
                  <a:schemeClr val="tx1"/>
                </a:solidFill>
              </a:rPr>
              <a:t>Cevap: "…Slipher… 40'tan fazla galaksinin ışık çizgilerinin kırmızıya kaydığını görmüştür… Daha sonra Edwin Hubble…"</a:t>
            </a:r>
            <a:endParaRPr lang="en-US" sz="1500" dirty="0"/>
          </a:p>
        </p:txBody>
      </p:sp>
      <p:sp>
        <p:nvSpPr>
          <p:cNvPr id="14" name="Örnek kartı 3"/>
          <p:cNvSpPr/>
          <p:nvPr/>
        </p:nvSpPr>
        <p:spPr>
          <a:xfrm>
            <a:off x="8046720" y="1325880"/>
            <a:ext cx="3520440" cy="484632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15" name="Örnek başlık 3"/>
          <p:cNvSpPr txBox="1"/>
          <p:nvPr/>
        </p:nvSpPr>
        <p:spPr>
          <a:xfrm>
            <a:off x="8321040" y="1508760"/>
            <a:ext cx="3017520" cy="7772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Kapsam dışı</a:t>
            </a:r>
            <a:endParaRPr lang="en-US" sz="2000" dirty="0"/>
          </a:p>
        </p:txBody>
      </p:sp>
      <p:sp>
        <p:nvSpPr>
          <p:cNvPr id="16" name="Örnek etiket 3"/>
          <p:cNvSpPr txBox="1"/>
          <p:nvPr/>
        </p:nvSpPr>
        <p:spPr>
          <a:xfrm>
            <a:off x="8321040" y="2286000"/>
            <a:ext cx="3017520" cy="365760"/>
          </a:xfrm>
          <a:prstGeom prst="rect">
            <a:avLst/>
          </a:prstGeom>
          <a:noFill/>
          <a:ln/>
        </p:spPr>
        <p:txBody>
          <a:bodyPr wrap="square" lIns="0" tIns="0" rIns="0" bIns="0" rtlCol="0" anchor="t"/>
          <a:lstStyle/>
          <a:p>
            <a:pPr indent="0" marL="0">
              <a:buNone/>
            </a:pPr>
            <a:r>
              <a:rPr lang="en-US" sz="1400" b="1" dirty="0">
                <a:solidFill>
                  <a:schemeClr val="accent3"/>
                </a:solidFill>
              </a:rPr>
              <a:t>başlangıç · INS_02874</a:t>
            </a:r>
            <a:endParaRPr lang="en-US" sz="1400" dirty="0"/>
          </a:p>
        </p:txBody>
      </p:sp>
      <p:sp>
        <p:nvSpPr>
          <p:cNvPr id="17" name="Örnek talimat 3"/>
          <p:cNvSpPr txBox="1"/>
          <p:nvPr/>
        </p:nvSpPr>
        <p:spPr>
          <a:xfrm>
            <a:off x="8321040" y="2743200"/>
            <a:ext cx="3017520" cy="1691640"/>
          </a:xfrm>
          <a:prstGeom prst="rect">
            <a:avLst/>
          </a:prstGeom>
          <a:noFill/>
          <a:ln/>
        </p:spPr>
        <p:txBody>
          <a:bodyPr wrap="square" lIns="0" tIns="0" rIns="0" bIns="0" rtlCol="0" anchor="t"/>
          <a:lstStyle/>
          <a:p>
            <a:pPr indent="0" marL="0">
              <a:buNone/>
            </a:pPr>
            <a:r>
              <a:rPr lang="en-US" sz="1500" i="1" dirty="0">
                <a:solidFill>
                  <a:schemeClr val="tx1"/>
                </a:solidFill>
              </a:rPr>
              <a:t>Talimat: "Bugün hava durumu nasıl olacak, pikniğe gidebilir miyim?"</a:t>
            </a:r>
            <a:endParaRPr lang="en-US" sz="1500" dirty="0"/>
          </a:p>
        </p:txBody>
      </p:sp>
      <p:sp>
        <p:nvSpPr>
          <p:cNvPr id="18" name="Örnek cevap 3"/>
          <p:cNvSpPr txBox="1"/>
          <p:nvPr/>
        </p:nvSpPr>
        <p:spPr>
          <a:xfrm>
            <a:off x="8321040" y="4480560"/>
            <a:ext cx="3017520" cy="1554480"/>
          </a:xfrm>
          <a:prstGeom prst="rect">
            <a:avLst/>
          </a:prstGeom>
          <a:noFill/>
          <a:ln/>
        </p:spPr>
        <p:txBody>
          <a:bodyPr wrap="square" lIns="0" tIns="0" rIns="0" bIns="0" rtlCol="0" anchor="t"/>
          <a:lstStyle/>
          <a:p>
            <a:pPr indent="0" marL="0">
              <a:buNone/>
            </a:pPr>
            <a:r>
              <a:rPr lang="en-US" sz="1500" dirty="0">
                <a:solidFill>
                  <a:schemeClr val="tx1"/>
                </a:solidFill>
              </a:rPr>
              <a:t>Cevap: "Meteorolojik tahminlere erişimim yoktur… Gökyüzü gözlemi için astronomik koşullar hakkında konuşabiliriz."</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Sentetik veriyi dört katmanda doğruladık</a:t>
            </a:r>
            <a:endParaRPr lang="en-US" sz="3200" dirty="0"/>
          </a:p>
        </p:txBody>
      </p:sp>
      <p:sp>
        <p:nvSpPr>
          <p:cNvPr id="4" name="Katman kartı 1"/>
          <p:cNvSpPr/>
          <p:nvPr/>
        </p:nvSpPr>
        <p:spPr>
          <a:xfrm>
            <a:off x="548640" y="1417320"/>
            <a:ext cx="2606040" cy="31089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5" name="Katman numarası 1"/>
          <p:cNvSpPr/>
          <p:nvPr/>
        </p:nvSpPr>
        <p:spPr>
          <a:xfrm>
            <a:off x="822960" y="1691640"/>
            <a:ext cx="640080" cy="640080"/>
          </a:xfrm>
          <a:prstGeom prst="ellipse">
            <a:avLst/>
          </a:prstGeom>
          <a:solidFill>
            <a:schemeClr val="accent1"/>
          </a:solidFill>
          <a:ln w="12700">
            <a:solidFill>
              <a:schemeClr val="accent1"/>
            </a:solidFill>
            <a:prstDash val="solid"/>
          </a:ln>
        </p:spPr>
      </p:sp>
      <p:sp>
        <p:nvSpPr>
          <p:cNvPr id="6" name="Katman numarası 1 etiket"/>
          <p:cNvSpPr txBox="1"/>
          <p:nvPr/>
        </p:nvSpPr>
        <p:spPr>
          <a:xfrm>
            <a:off x="822960" y="16916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7" name="Katman başlık 1"/>
          <p:cNvSpPr txBox="1"/>
          <p:nvPr/>
        </p:nvSpPr>
        <p:spPr>
          <a:xfrm>
            <a:off x="822960" y="2514600"/>
            <a:ext cx="21031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Kural kontrolleri</a:t>
            </a:r>
            <a:endParaRPr lang="en-US" sz="2000" dirty="0"/>
          </a:p>
        </p:txBody>
      </p:sp>
      <p:sp>
        <p:nvSpPr>
          <p:cNvPr id="8" name="Katman açıklama 1"/>
          <p:cNvSpPr txBox="1"/>
          <p:nvPr/>
        </p:nvSpPr>
        <p:spPr>
          <a:xfrm>
            <a:off x="822960" y="3017520"/>
            <a:ext cx="2103120" cy="640080"/>
          </a:xfrm>
          <a:prstGeom prst="rect">
            <a:avLst/>
          </a:prstGeom>
          <a:noFill/>
          <a:ln/>
        </p:spPr>
        <p:txBody>
          <a:bodyPr wrap="square" lIns="0" tIns="0" rIns="0" bIns="0" rtlCol="0" anchor="t"/>
          <a:lstStyle/>
          <a:p>
            <a:pPr indent="0" marL="0">
              <a:buNone/>
            </a:pPr>
            <a:r>
              <a:rPr lang="en-US" sz="1500" dirty="0">
                <a:solidFill>
                  <a:schemeClr val="tx2"/>
                </a:solidFill>
              </a:rPr>
              <a:t>tüm örnekler</a:t>
            </a:r>
            <a:endParaRPr lang="en-US" sz="1500" dirty="0"/>
          </a:p>
        </p:txBody>
      </p:sp>
      <p:sp>
        <p:nvSpPr>
          <p:cNvPr id="9" name="Katman sayı 1"/>
          <p:cNvSpPr txBox="1"/>
          <p:nvPr/>
        </p:nvSpPr>
        <p:spPr>
          <a:xfrm>
            <a:off x="822960" y="3749040"/>
            <a:ext cx="2194560" cy="548640"/>
          </a:xfrm>
          <a:prstGeom prst="rect">
            <a:avLst/>
          </a:prstGeom>
          <a:noFill/>
          <a:ln/>
        </p:spPr>
        <p:txBody>
          <a:bodyPr wrap="square" lIns="0" tIns="0" rIns="0" bIns="0" rtlCol="0" anchor="t"/>
          <a:lstStyle/>
          <a:p>
            <a:pPr indent="0" marL="0">
              <a:buNone/>
            </a:pPr>
            <a:r>
              <a:rPr lang="en-US" sz="2400" b="1" dirty="0">
                <a:solidFill>
                  <a:schemeClr val="accent6"/>
                </a:solidFill>
                <a:latin typeface="Cambria" pitchFamily="34" charset="0"/>
                <a:ea typeface="Cambria" pitchFamily="34" charset="-122"/>
                <a:cs typeface="Cambria" pitchFamily="34" charset="-120"/>
              </a:rPr>
              <a:t>3.962 → 3.486</a:t>
            </a:r>
            <a:endParaRPr lang="en-US" sz="2400" dirty="0"/>
          </a:p>
        </p:txBody>
      </p:sp>
      <p:sp>
        <p:nvSpPr>
          <p:cNvPr id="10" name="Katman kartı 2"/>
          <p:cNvSpPr/>
          <p:nvPr/>
        </p:nvSpPr>
        <p:spPr>
          <a:xfrm>
            <a:off x="3364992" y="1417320"/>
            <a:ext cx="2606040" cy="31089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11" name="Katman numarası 2"/>
          <p:cNvSpPr/>
          <p:nvPr/>
        </p:nvSpPr>
        <p:spPr>
          <a:xfrm>
            <a:off x="3639312" y="1691640"/>
            <a:ext cx="640080" cy="640080"/>
          </a:xfrm>
          <a:prstGeom prst="ellipse">
            <a:avLst/>
          </a:prstGeom>
          <a:solidFill>
            <a:schemeClr val="accent1"/>
          </a:solidFill>
          <a:ln w="12700">
            <a:solidFill>
              <a:schemeClr val="accent1"/>
            </a:solidFill>
            <a:prstDash val="solid"/>
          </a:ln>
        </p:spPr>
      </p:sp>
      <p:sp>
        <p:nvSpPr>
          <p:cNvPr id="12" name="Katman numarası 2 etiket"/>
          <p:cNvSpPr txBox="1"/>
          <p:nvPr/>
        </p:nvSpPr>
        <p:spPr>
          <a:xfrm>
            <a:off x="3639312" y="16916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3" name="Katman başlık 2"/>
          <p:cNvSpPr txBox="1"/>
          <p:nvPr/>
        </p:nvSpPr>
        <p:spPr>
          <a:xfrm>
            <a:off x="3639312" y="2514600"/>
            <a:ext cx="21031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Kanıt kontrolü</a:t>
            </a:r>
            <a:endParaRPr lang="en-US" sz="2000" dirty="0"/>
          </a:p>
        </p:txBody>
      </p:sp>
      <p:sp>
        <p:nvSpPr>
          <p:cNvPr id="14" name="Katman açıklama 2"/>
          <p:cNvSpPr txBox="1"/>
          <p:nvPr/>
        </p:nvSpPr>
        <p:spPr>
          <a:xfrm>
            <a:off x="3639312" y="3017520"/>
            <a:ext cx="2103120" cy="640080"/>
          </a:xfrm>
          <a:prstGeom prst="rect">
            <a:avLst/>
          </a:prstGeom>
          <a:noFill/>
          <a:ln/>
        </p:spPr>
        <p:txBody>
          <a:bodyPr wrap="square" lIns="0" tIns="0" rIns="0" bIns="0" rtlCol="0" anchor="t"/>
          <a:lstStyle/>
          <a:p>
            <a:pPr indent="0" marL="0">
              <a:buNone/>
            </a:pPr>
            <a:r>
              <a:rPr lang="en-US" sz="1500" dirty="0">
                <a:solidFill>
                  <a:schemeClr val="tx2"/>
                </a:solidFill>
              </a:rPr>
              <a:t>alıntı kaynakta mı?</a:t>
            </a:r>
            <a:endParaRPr lang="en-US" sz="1500" dirty="0"/>
          </a:p>
        </p:txBody>
      </p:sp>
      <p:sp>
        <p:nvSpPr>
          <p:cNvPr id="15" name="Katman sayı 2"/>
          <p:cNvSpPr txBox="1"/>
          <p:nvPr/>
        </p:nvSpPr>
        <p:spPr>
          <a:xfrm>
            <a:off x="3639312" y="3749040"/>
            <a:ext cx="2194560" cy="548640"/>
          </a:xfrm>
          <a:prstGeom prst="rect">
            <a:avLst/>
          </a:prstGeom>
          <a:noFill/>
          <a:ln/>
        </p:spPr>
        <p:txBody>
          <a:bodyPr wrap="square" lIns="0" tIns="0" rIns="0" bIns="0" rtlCol="0" anchor="t"/>
          <a:lstStyle/>
          <a:p>
            <a:pPr indent="0" marL="0">
              <a:buNone/>
            </a:pPr>
            <a:r>
              <a:rPr lang="en-US" sz="2400" b="1" dirty="0">
                <a:solidFill>
                  <a:schemeClr val="accent6"/>
                </a:solidFill>
                <a:latin typeface="Cambria" pitchFamily="34" charset="0"/>
                <a:ea typeface="Cambria" pitchFamily="34" charset="-122"/>
                <a:cs typeface="Cambria" pitchFamily="34" charset="-120"/>
              </a:rPr>
              <a:t>→ 3.452</a:t>
            </a:r>
            <a:endParaRPr lang="en-US" sz="2400" dirty="0"/>
          </a:p>
        </p:txBody>
      </p:sp>
      <p:sp>
        <p:nvSpPr>
          <p:cNvPr id="16" name="Katman kartı 3"/>
          <p:cNvSpPr/>
          <p:nvPr/>
        </p:nvSpPr>
        <p:spPr>
          <a:xfrm>
            <a:off x="6181344" y="1417320"/>
            <a:ext cx="2606040" cy="31089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17" name="Katman numarası 3"/>
          <p:cNvSpPr/>
          <p:nvPr/>
        </p:nvSpPr>
        <p:spPr>
          <a:xfrm>
            <a:off x="6455664" y="1691640"/>
            <a:ext cx="640080" cy="640080"/>
          </a:xfrm>
          <a:prstGeom prst="ellipse">
            <a:avLst/>
          </a:prstGeom>
          <a:solidFill>
            <a:schemeClr val="accent1"/>
          </a:solidFill>
          <a:ln w="12700">
            <a:solidFill>
              <a:schemeClr val="accent1"/>
            </a:solidFill>
            <a:prstDash val="solid"/>
          </a:ln>
        </p:spPr>
      </p:sp>
      <p:sp>
        <p:nvSpPr>
          <p:cNvPr id="18" name="Katman numarası 3 etiket"/>
          <p:cNvSpPr txBox="1"/>
          <p:nvPr/>
        </p:nvSpPr>
        <p:spPr>
          <a:xfrm>
            <a:off x="6455664" y="16916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9" name="Katman başlık 3"/>
          <p:cNvSpPr txBox="1"/>
          <p:nvPr/>
        </p:nvSpPr>
        <p:spPr>
          <a:xfrm>
            <a:off x="6455664" y="2514600"/>
            <a:ext cx="21031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LLM yargıç</a:t>
            </a:r>
            <a:endParaRPr lang="en-US" sz="2000" dirty="0"/>
          </a:p>
        </p:txBody>
      </p:sp>
      <p:sp>
        <p:nvSpPr>
          <p:cNvPr id="20" name="Katman açıklama 3"/>
          <p:cNvSpPr txBox="1"/>
          <p:nvPr/>
        </p:nvSpPr>
        <p:spPr>
          <a:xfrm>
            <a:off x="6455664" y="3017520"/>
            <a:ext cx="2103120" cy="640080"/>
          </a:xfrm>
          <a:prstGeom prst="rect">
            <a:avLst/>
          </a:prstGeom>
          <a:noFill/>
          <a:ln/>
        </p:spPr>
        <p:txBody>
          <a:bodyPr wrap="square" lIns="0" tIns="0" rIns="0" bIns="0" rtlCol="0" anchor="t"/>
          <a:lstStyle/>
          <a:p>
            <a:pPr indent="0" marL="0">
              <a:buNone/>
            </a:pPr>
            <a:r>
              <a:rPr lang="en-US" sz="1500" dirty="0">
                <a:solidFill>
                  <a:schemeClr val="tx2"/>
                </a:solidFill>
              </a:rPr>
              <a:t>%10 örneklem, farklı model</a:t>
            </a:r>
            <a:endParaRPr lang="en-US" sz="1500" dirty="0"/>
          </a:p>
        </p:txBody>
      </p:sp>
      <p:sp>
        <p:nvSpPr>
          <p:cNvPr id="21" name="Katman sayı 3"/>
          <p:cNvSpPr txBox="1"/>
          <p:nvPr/>
        </p:nvSpPr>
        <p:spPr>
          <a:xfrm>
            <a:off x="6455664" y="3749040"/>
            <a:ext cx="2194560" cy="548640"/>
          </a:xfrm>
          <a:prstGeom prst="rect">
            <a:avLst/>
          </a:prstGeom>
          <a:noFill/>
          <a:ln/>
        </p:spPr>
        <p:txBody>
          <a:bodyPr wrap="square" lIns="0" tIns="0" rIns="0" bIns="0" rtlCol="0" anchor="t"/>
          <a:lstStyle/>
          <a:p>
            <a:pPr indent="0" marL="0">
              <a:buNone/>
            </a:pPr>
            <a:r>
              <a:rPr lang="en-US" sz="2400" b="1" dirty="0">
                <a:solidFill>
                  <a:schemeClr val="accent6"/>
                </a:solidFill>
                <a:latin typeface="Cambria" pitchFamily="34" charset="0"/>
                <a:ea typeface="Cambria" pitchFamily="34" charset="-122"/>
                <a:cs typeface="Cambria" pitchFamily="34" charset="-120"/>
              </a:rPr>
              <a:t>→ 3.412</a:t>
            </a:r>
            <a:endParaRPr lang="en-US" sz="2400" dirty="0"/>
          </a:p>
        </p:txBody>
      </p:sp>
      <p:sp>
        <p:nvSpPr>
          <p:cNvPr id="22" name="Katman kartı 4"/>
          <p:cNvSpPr/>
          <p:nvPr/>
        </p:nvSpPr>
        <p:spPr>
          <a:xfrm>
            <a:off x="8997696" y="1417320"/>
            <a:ext cx="2606040" cy="31089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23" name="Katman numarası 4"/>
          <p:cNvSpPr/>
          <p:nvPr/>
        </p:nvSpPr>
        <p:spPr>
          <a:xfrm>
            <a:off x="9272016" y="1691640"/>
            <a:ext cx="640080" cy="640080"/>
          </a:xfrm>
          <a:prstGeom prst="ellipse">
            <a:avLst/>
          </a:prstGeom>
          <a:solidFill>
            <a:schemeClr val="accent1"/>
          </a:solidFill>
          <a:ln w="12700">
            <a:solidFill>
              <a:schemeClr val="accent1"/>
            </a:solidFill>
            <a:prstDash val="solid"/>
          </a:ln>
        </p:spPr>
      </p:sp>
      <p:sp>
        <p:nvSpPr>
          <p:cNvPr id="24" name="Katman numarası 4 etiket"/>
          <p:cNvSpPr txBox="1"/>
          <p:nvPr/>
        </p:nvSpPr>
        <p:spPr>
          <a:xfrm>
            <a:off x="9272016" y="16916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4</a:t>
            </a:r>
            <a:endParaRPr lang="en-US" sz="2200" dirty="0"/>
          </a:p>
        </p:txBody>
      </p:sp>
      <p:sp>
        <p:nvSpPr>
          <p:cNvPr id="25" name="Katman başlık 4"/>
          <p:cNvSpPr txBox="1"/>
          <p:nvPr/>
        </p:nvSpPr>
        <p:spPr>
          <a:xfrm>
            <a:off x="9272016" y="2514600"/>
            <a:ext cx="21031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Elle inceleme</a:t>
            </a:r>
            <a:endParaRPr lang="en-US" sz="2000" dirty="0"/>
          </a:p>
        </p:txBody>
      </p:sp>
      <p:sp>
        <p:nvSpPr>
          <p:cNvPr id="26" name="Katman açıklama 4"/>
          <p:cNvSpPr txBox="1"/>
          <p:nvPr/>
        </p:nvSpPr>
        <p:spPr>
          <a:xfrm>
            <a:off x="9272016" y="3017520"/>
            <a:ext cx="2103120" cy="640080"/>
          </a:xfrm>
          <a:prstGeom prst="rect">
            <a:avLst/>
          </a:prstGeom>
          <a:noFill/>
          <a:ln/>
        </p:spPr>
        <p:txBody>
          <a:bodyPr wrap="square" lIns="0" tIns="0" rIns="0" bIns="0" rtlCol="0" anchor="t"/>
          <a:lstStyle/>
          <a:p>
            <a:pPr indent="0" marL="0">
              <a:buNone/>
            </a:pPr>
            <a:r>
              <a:rPr lang="en-US" sz="1500" dirty="0">
                <a:solidFill>
                  <a:schemeClr val="tx2"/>
                </a:solidFill>
              </a:rPr>
              <a:t>150 örnek, kaynakla</a:t>
            </a:r>
            <a:endParaRPr lang="en-US" sz="1500" dirty="0"/>
          </a:p>
        </p:txBody>
      </p:sp>
      <p:sp>
        <p:nvSpPr>
          <p:cNvPr id="27" name="Katman sayı 4"/>
          <p:cNvSpPr txBox="1"/>
          <p:nvPr/>
        </p:nvSpPr>
        <p:spPr>
          <a:xfrm>
            <a:off x="9272016" y="3749040"/>
            <a:ext cx="2194560" cy="548640"/>
          </a:xfrm>
          <a:prstGeom prst="rect">
            <a:avLst/>
          </a:prstGeom>
          <a:noFill/>
          <a:ln/>
        </p:spPr>
        <p:txBody>
          <a:bodyPr wrap="square" lIns="0" tIns="0" rIns="0" bIns="0" rtlCol="0" anchor="t"/>
          <a:lstStyle/>
          <a:p>
            <a:pPr indent="0" marL="0">
              <a:buNone/>
            </a:pPr>
            <a:r>
              <a:rPr lang="en-US" sz="2400" b="1" dirty="0">
                <a:solidFill>
                  <a:schemeClr val="accent6"/>
                </a:solidFill>
                <a:latin typeface="Cambria" pitchFamily="34" charset="0"/>
                <a:ea typeface="Cambria" pitchFamily="34" charset="-122"/>
                <a:cs typeface="Cambria" pitchFamily="34" charset="-120"/>
              </a:rPr>
              <a:t>→ 3.388</a:t>
            </a:r>
            <a:endParaRPr lang="en-US" sz="2400" dirty="0"/>
          </a:p>
        </p:txBody>
      </p:sp>
      <p:sp>
        <p:nvSpPr>
          <p:cNvPr id="28" name="Doğrulama notları"/>
          <p:cNvSpPr txBox="1"/>
          <p:nvPr/>
        </p:nvSpPr>
        <p:spPr>
          <a:xfrm>
            <a:off x="548640" y="4800600"/>
            <a:ext cx="1106424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574 örnek elendi; her biri nedeniyle reports/removed_instructions.csv'de (en sık: talimatta soru/cevap 160, görünmeyen metne atıf 147)</a:t>
            </a:r>
            <a:endParaRPr lang="en-US" sz="1600" dirty="0"/>
          </a:p>
          <a:p>
            <a:pPr marL="342900" indent="-342900">
              <a:spcAft>
                <a:spcPts val="600"/>
              </a:spcAft>
              <a:buSzPct val="100000"/>
              <a:buChar char="•"/>
            </a:pPr>
            <a:r>
              <a:rPr lang="en-US" sz="1500" dirty="0">
                <a:solidFill>
                  <a:schemeClr val="tx1"/>
                </a:solidFill>
              </a:rPr>
              <a:t>Yargıç: 348 örnekte başarısız %11,5 (lite üretimlerinde %12,6, Flash'ta %0) → başarısızlar elendi</a:t>
            </a:r>
            <a:endParaRPr lang="en-US" sz="1600" dirty="0"/>
          </a:p>
          <a:p>
            <a:pPr marL="342900" indent="-342900">
              <a:spcAft>
                <a:spcPts val="600"/>
              </a:spcAft>
              <a:buSzPct val="100000"/>
              <a:buChar char="•"/>
            </a:pPr>
            <a:r>
              <a:rPr lang="en-US" sz="1500" dirty="0">
                <a:solidFill>
                  <a:schemeClr val="tx1"/>
                </a:solidFill>
              </a:rPr>
              <a:t>Hiçbir örnek kendi üreticisiyle değerlendirilmedi; örneklem ilk çalıştırmada dosyaya sabitlendi</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Kalite kontrolü: elle inceleme</a:t>
            </a:r>
            <a:endParaRPr lang="en-US" sz="3200" dirty="0"/>
          </a:p>
        </p:txBody>
      </p:sp>
      <p:graphicFrame>
        <p:nvGraphicFramePr>
          <p:cNvPr id="4" name="Corpus kalite grafiği" descr=""/>
          <p:cNvGraphicFramePr/>
          <p:nvPr/>
        </p:nvGraphicFramePr>
        <p:xfrm>
          <a:off x="548640" y="1280160"/>
          <a:ext cx="539496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Instruction kalite grafiği" descr=""/>
          <p:cNvGraphicFramePr/>
          <p:nvPr/>
        </p:nvGraphicFramePr>
        <p:xfrm>
          <a:off x="6217920" y="1280160"/>
          <a:ext cx="5394960" cy="3794760"/>
        </p:xfrm>
        <a:graphic xmlns:a="http://schemas.openxmlformats.org/drawingml/2006/main">
          <a:graphicData uri="http://schemas.openxmlformats.org/drawingml/2006/chart">
            <c:chart xmlns:c="http://schemas.openxmlformats.org/drawingml/2006/chart" r:id="rId2"/>
          </a:graphicData>
        </a:graphic>
      </p:graphicFrame>
      <p:sp>
        <p:nvSpPr>
          <p:cNvPr id="6" name="Corpus genel"/>
          <p:cNvSpPr txBox="1"/>
          <p:nvPr/>
        </p:nvSpPr>
        <p:spPr>
          <a:xfrm>
            <a:off x="548640" y="5212080"/>
            <a:ext cx="539496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88 / 100 uygun</a:t>
            </a:r>
            <a:endParaRPr lang="en-US" sz="4000" dirty="0"/>
          </a:p>
        </p:txBody>
      </p:sp>
      <p:sp>
        <p:nvSpPr>
          <p:cNvPr id="7" name="Corpus genel açıklama"/>
          <p:cNvSpPr txBox="1"/>
          <p:nvPr/>
        </p:nvSpPr>
        <p:spPr>
          <a:xfrm>
            <a:off x="548640" y="5989320"/>
            <a:ext cx="5394960" cy="457200"/>
          </a:xfrm>
          <a:prstGeom prst="rect">
            <a:avLst/>
          </a:prstGeom>
          <a:noFill/>
          <a:ln/>
        </p:spPr>
        <p:txBody>
          <a:bodyPr wrap="square" lIns="0" tIns="0" rIns="0" bIns="0" rtlCol="0" anchor="t"/>
          <a:lstStyle/>
          <a:p>
            <a:pPr indent="0" marL="0">
              <a:buNone/>
            </a:pPr>
            <a:r>
              <a:rPr lang="en-US" sz="1400" dirty="0">
                <a:solidFill>
                  <a:schemeClr val="tx2"/>
                </a:solidFill>
              </a:rPr>
              <a:t>sorunların 7'si yalnız alt konu etiketi · metinde sorun %6</a:t>
            </a:r>
            <a:endParaRPr lang="en-US" sz="1400" dirty="0"/>
          </a:p>
        </p:txBody>
      </p:sp>
      <p:sp>
        <p:nvSpPr>
          <p:cNvPr id="8" name="Instruction genel"/>
          <p:cNvSpPr txBox="1"/>
          <p:nvPr/>
        </p:nvSpPr>
        <p:spPr>
          <a:xfrm>
            <a:off x="6217920" y="5212080"/>
            <a:ext cx="5394960" cy="77724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126 / 150 uygun</a:t>
            </a:r>
            <a:endParaRPr lang="en-US" sz="4000" dirty="0"/>
          </a:p>
        </p:txBody>
      </p:sp>
      <p:sp>
        <p:nvSpPr>
          <p:cNvPr id="9" name="Instruction genel açıklama"/>
          <p:cNvSpPr txBox="1"/>
          <p:nvPr/>
        </p:nvSpPr>
        <p:spPr>
          <a:xfrm>
            <a:off x="6217920" y="5989320"/>
            <a:ext cx="5394960" cy="457200"/>
          </a:xfrm>
          <a:prstGeom prst="rect">
            <a:avLst/>
          </a:prstGeom>
          <a:noFill/>
          <a:ln/>
        </p:spPr>
        <p:txBody>
          <a:bodyPr wrap="square" lIns="0" tIns="0" rIns="0" bIns="0" rtlCol="0" anchor="t"/>
          <a:lstStyle/>
          <a:p>
            <a:pPr indent="0" marL="0">
              <a:buNone/>
            </a:pPr>
            <a:r>
              <a:rPr lang="en-US" sz="1400" dirty="0">
                <a:solidFill>
                  <a:schemeClr val="tx2"/>
                </a:solidFill>
              </a:rPr>
              <a:t>24 sorunlu örnek setten çıkarıldı · yargıç hata tahmini %11,5</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Karşılaştığımız problemler ve çözümler</a:t>
            </a:r>
            <a:endParaRPr lang="en-US" sz="3200" dirty="0"/>
          </a:p>
        </p:txBody>
      </p:sp>
      <p:graphicFrame>
        <p:nvGraphicFramePr>
          <p:cNvPr id="15" name="Problem tablosu"/>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023360"/>
                <a:gridCol w="2651760"/>
                <a:gridCol w="4389120"/>
              </a:tblGrid>
              <a:tr h="512064">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Problem</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Nasıl fark edildi</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Çözüm</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6"/>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PDF'te kutular paragrafa karışıyordu</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Çıktı okunurken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Bloklar sayfa konumuna göre sıralandı</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Üs kaybı ("× 108 km")</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Elle inceleme</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exponent_fix.py: 1.934 ifade, testli</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Wikipedia'da kurgu/film/bayrak maddeleri</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En uzun dokümanlar</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Maddenin kendi kategorilerine dayalı filtre (356)</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APOD yeniden yayınları train/test arasında</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Eşik incelemesi</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İki ölçütlü ikinci geçiş (140 doküman)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Ücretsiz Gemini kotası (model başına 20/gün)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Loglar</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 Flash + 2 lite havuz, döngü, kota bekleme</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Lite modelde Türkçe karakter kaybı</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Rastgele örnek</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Türkçe kontrolü; iş düzeyinde ret ve yeniden üretim</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Çoktan seçmeli talimatta soru/cevap</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Sunum için örnek seçerken</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Kural + prompt v1.1 + iş düzeyinde ret</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Cevapsız Gemini isteği döngüyü durdurdu</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İlerlemeyen log</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10 dk zaman aşımı, sıradaki model</a:t>
                      </a:r>
                      <a:endParaRPr lang="en-US" sz="1400" dirty="0">
                        <a:latin typeface="Calibri" charset="0"/>
                        <a:ea typeface="Calibri" charset="0"/>
                        <a:cs typeface="Calibri" charset="0"/>
                      </a:endParaRPr>
                    </a:p>
                  </a:txBody>
                  <a:tcPr marL="91440" marR="91440" marT="45720" marB="45720"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Final dönemi planı</a:t>
            </a:r>
            <a:endParaRPr lang="en-US" sz="3200" dirty="0"/>
          </a:p>
        </p:txBody>
      </p:sp>
      <p:sp>
        <p:nvSpPr>
          <p:cNvPr id="4" name="Plan numarası 1"/>
          <p:cNvSpPr/>
          <p:nvPr/>
        </p:nvSpPr>
        <p:spPr>
          <a:xfrm>
            <a:off x="1234440" y="1554480"/>
            <a:ext cx="731520" cy="731520"/>
          </a:xfrm>
          <a:prstGeom prst="ellipse">
            <a:avLst/>
          </a:prstGeom>
          <a:solidFill>
            <a:schemeClr val="accent2"/>
          </a:solidFill>
          <a:ln w="12700">
            <a:solidFill>
              <a:schemeClr val="accent2"/>
            </a:solidFill>
            <a:prstDash val="solid"/>
          </a:ln>
        </p:spPr>
      </p:sp>
      <p:sp>
        <p:nvSpPr>
          <p:cNvPr id="5" name="Plan numarası 1 etiket"/>
          <p:cNvSpPr txBox="1"/>
          <p:nvPr/>
        </p:nvSpPr>
        <p:spPr>
          <a:xfrm>
            <a:off x="1234440" y="155448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6" name="Plan bağlantı 1"/>
          <p:cNvSpPr/>
          <p:nvPr/>
        </p:nvSpPr>
        <p:spPr>
          <a:xfrm>
            <a:off x="2057400" y="1920240"/>
            <a:ext cx="1463040" cy="0"/>
          </a:xfrm>
          <a:prstGeom prst="line">
            <a:avLst/>
          </a:prstGeom>
          <a:noFill/>
          <a:ln w="19050">
            <a:solidFill>
              <a:schemeClr val="accent5"/>
            </a:solidFill>
            <a:prstDash val="dash"/>
          </a:ln>
        </p:spPr>
      </p:sp>
      <p:sp>
        <p:nvSpPr>
          <p:cNvPr id="7" name="Plan kartı 1"/>
          <p:cNvSpPr/>
          <p:nvPr/>
        </p:nvSpPr>
        <p:spPr>
          <a:xfrm>
            <a:off x="548640" y="2560320"/>
            <a:ext cx="2103120" cy="265176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8" name="Plan başlık 1"/>
          <p:cNvSpPr txBox="1"/>
          <p:nvPr/>
        </p:nvSpPr>
        <p:spPr>
          <a:xfrm>
            <a:off x="731520" y="2743200"/>
            <a:ext cx="1737360" cy="7772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Instruction v1.1</a:t>
            </a:r>
            <a:endParaRPr lang="en-US" sz="1800" dirty="0"/>
          </a:p>
        </p:txBody>
      </p:sp>
      <p:sp>
        <p:nvSpPr>
          <p:cNvPr id="9" name="Plan metni 1"/>
          <p:cNvSpPr txBox="1"/>
          <p:nvPr/>
        </p:nvSpPr>
        <p:spPr>
          <a:xfrm>
            <a:off x="731520" y="3566160"/>
            <a:ext cx="1737360" cy="1554480"/>
          </a:xfrm>
          <a:prstGeom prst="rect">
            <a:avLst/>
          </a:prstGeom>
          <a:noFill/>
          <a:ln/>
        </p:spPr>
        <p:txBody>
          <a:bodyPr wrap="square" lIns="0" tIns="0" rIns="0" bIns="0" rtlCol="0" anchor="t"/>
          <a:lstStyle/>
          <a:p>
            <a:pPr indent="0" marL="0">
              <a:buNone/>
            </a:pPr>
            <a:r>
              <a:rPr lang="en-US" sz="1500" dirty="0">
                <a:solidFill>
                  <a:schemeClr val="tx1"/>
                </a:solidFill>
              </a:rPr>
              <a:t>Yargıcı tüm lite üretimlerine genişletme (kod hazır)</a:t>
            </a:r>
            <a:endParaRPr lang="en-US" sz="1500" dirty="0"/>
          </a:p>
        </p:txBody>
      </p:sp>
      <p:sp>
        <p:nvSpPr>
          <p:cNvPr id="10" name="Plan numarası 2"/>
          <p:cNvSpPr/>
          <p:nvPr/>
        </p:nvSpPr>
        <p:spPr>
          <a:xfrm>
            <a:off x="3502152" y="1554480"/>
            <a:ext cx="731520" cy="731520"/>
          </a:xfrm>
          <a:prstGeom prst="ellipse">
            <a:avLst/>
          </a:prstGeom>
          <a:solidFill>
            <a:schemeClr val="accent1"/>
          </a:solidFill>
          <a:ln w="12700">
            <a:solidFill>
              <a:schemeClr val="accent1"/>
            </a:solidFill>
            <a:prstDash val="solid"/>
          </a:ln>
        </p:spPr>
      </p:sp>
      <p:sp>
        <p:nvSpPr>
          <p:cNvPr id="11" name="Plan numarası 2 etiket"/>
          <p:cNvSpPr txBox="1"/>
          <p:nvPr/>
        </p:nvSpPr>
        <p:spPr>
          <a:xfrm>
            <a:off x="3502152" y="155448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12" name="Plan bağlantı 2"/>
          <p:cNvSpPr/>
          <p:nvPr/>
        </p:nvSpPr>
        <p:spPr>
          <a:xfrm>
            <a:off x="4325112" y="1920240"/>
            <a:ext cx="1463040" cy="0"/>
          </a:xfrm>
          <a:prstGeom prst="line">
            <a:avLst/>
          </a:prstGeom>
          <a:noFill/>
          <a:ln w="19050">
            <a:solidFill>
              <a:schemeClr val="accent5"/>
            </a:solidFill>
            <a:prstDash val="dash"/>
          </a:ln>
        </p:spPr>
      </p:sp>
      <p:sp>
        <p:nvSpPr>
          <p:cNvPr id="13" name="Plan kartı 2"/>
          <p:cNvSpPr/>
          <p:nvPr/>
        </p:nvSpPr>
        <p:spPr>
          <a:xfrm>
            <a:off x="2816352" y="2560320"/>
            <a:ext cx="2103120" cy="265176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14" name="Plan başlık 2"/>
          <p:cNvSpPr txBox="1"/>
          <p:nvPr/>
        </p:nvSpPr>
        <p:spPr>
          <a:xfrm>
            <a:off x="2999232" y="2743200"/>
            <a:ext cx="1737360" cy="7772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CPT / DAPT</a:t>
            </a:r>
            <a:endParaRPr lang="en-US" sz="1800" dirty="0"/>
          </a:p>
        </p:txBody>
      </p:sp>
      <p:sp>
        <p:nvSpPr>
          <p:cNvPr id="15" name="Plan metni 2"/>
          <p:cNvSpPr txBox="1"/>
          <p:nvPr/>
        </p:nvSpPr>
        <p:spPr>
          <a:xfrm>
            <a:off x="2999232" y="3566160"/>
            <a:ext cx="1737360" cy="1554480"/>
          </a:xfrm>
          <a:prstGeom prst="rect">
            <a:avLst/>
          </a:prstGeom>
          <a:noFill/>
          <a:ln/>
        </p:spPr>
        <p:txBody>
          <a:bodyPr wrap="square" lIns="0" tIns="0" rIns="0" bIns="0" rtlCol="0" anchor="t"/>
          <a:lstStyle/>
          <a:p>
            <a:pPr indent="0" marL="0">
              <a:buNone/>
            </a:pPr>
            <a:r>
              <a:rPr lang="en-US" sz="1500" dirty="0">
                <a:solidFill>
                  <a:schemeClr val="tx1"/>
                </a:solidFill>
              </a:rPr>
              <a:t>Qwen2.5-7B base + Domain Corpus (QLoRA, düşük öğrenme hızı)</a:t>
            </a:r>
            <a:endParaRPr lang="en-US" sz="1500" dirty="0"/>
          </a:p>
        </p:txBody>
      </p:sp>
      <p:sp>
        <p:nvSpPr>
          <p:cNvPr id="16" name="Plan numarası 3"/>
          <p:cNvSpPr/>
          <p:nvPr/>
        </p:nvSpPr>
        <p:spPr>
          <a:xfrm>
            <a:off x="5769864" y="1554480"/>
            <a:ext cx="731520" cy="731520"/>
          </a:xfrm>
          <a:prstGeom prst="ellipse">
            <a:avLst/>
          </a:prstGeom>
          <a:solidFill>
            <a:schemeClr val="accent1"/>
          </a:solidFill>
          <a:ln w="12700">
            <a:solidFill>
              <a:schemeClr val="accent1"/>
            </a:solidFill>
            <a:prstDash val="solid"/>
          </a:ln>
        </p:spPr>
      </p:sp>
      <p:sp>
        <p:nvSpPr>
          <p:cNvPr id="17" name="Plan numarası 3 etiket"/>
          <p:cNvSpPr txBox="1"/>
          <p:nvPr/>
        </p:nvSpPr>
        <p:spPr>
          <a:xfrm>
            <a:off x="5769864" y="155448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18" name="Plan bağlantı 3"/>
          <p:cNvSpPr/>
          <p:nvPr/>
        </p:nvSpPr>
        <p:spPr>
          <a:xfrm>
            <a:off x="6592824" y="1920240"/>
            <a:ext cx="1463040" cy="0"/>
          </a:xfrm>
          <a:prstGeom prst="line">
            <a:avLst/>
          </a:prstGeom>
          <a:noFill/>
          <a:ln w="19050">
            <a:solidFill>
              <a:schemeClr val="accent5"/>
            </a:solidFill>
            <a:prstDash val="dash"/>
          </a:ln>
        </p:spPr>
      </p:sp>
      <p:sp>
        <p:nvSpPr>
          <p:cNvPr id="19" name="Plan kartı 3"/>
          <p:cNvSpPr/>
          <p:nvPr/>
        </p:nvSpPr>
        <p:spPr>
          <a:xfrm>
            <a:off x="5084064" y="2560320"/>
            <a:ext cx="2103120" cy="265176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20" name="Plan başlık 3"/>
          <p:cNvSpPr txBox="1"/>
          <p:nvPr/>
        </p:nvSpPr>
        <p:spPr>
          <a:xfrm>
            <a:off x="5266944" y="2743200"/>
            <a:ext cx="1737360" cy="7772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SFT</a:t>
            </a:r>
            <a:endParaRPr lang="en-US" sz="1800" dirty="0"/>
          </a:p>
        </p:txBody>
      </p:sp>
      <p:sp>
        <p:nvSpPr>
          <p:cNvPr id="21" name="Plan metni 3"/>
          <p:cNvSpPr txBox="1"/>
          <p:nvPr/>
        </p:nvSpPr>
        <p:spPr>
          <a:xfrm>
            <a:off x="5266944" y="3566160"/>
            <a:ext cx="1737360" cy="1554480"/>
          </a:xfrm>
          <a:prstGeom prst="rect">
            <a:avLst/>
          </a:prstGeom>
          <a:noFill/>
          <a:ln/>
        </p:spPr>
        <p:txBody>
          <a:bodyPr wrap="square" lIns="0" tIns="0" rIns="0" bIns="0" rtlCol="0" anchor="t"/>
          <a:lstStyle/>
          <a:p>
            <a:pPr indent="0" marL="0">
              <a:buNone/>
            </a:pPr>
            <a:r>
              <a:rPr lang="en-US" sz="1500" dirty="0">
                <a:solidFill>
                  <a:schemeClr val="tx1"/>
                </a:solidFill>
              </a:rPr>
              <a:t>Instruction Dataset ile Türkçe asistan davranışı</a:t>
            </a:r>
            <a:endParaRPr lang="en-US" sz="1500" dirty="0"/>
          </a:p>
        </p:txBody>
      </p:sp>
      <p:sp>
        <p:nvSpPr>
          <p:cNvPr id="22" name="Plan numarası 4"/>
          <p:cNvSpPr/>
          <p:nvPr/>
        </p:nvSpPr>
        <p:spPr>
          <a:xfrm>
            <a:off x="8037576" y="1554480"/>
            <a:ext cx="731520" cy="731520"/>
          </a:xfrm>
          <a:prstGeom prst="ellipse">
            <a:avLst/>
          </a:prstGeom>
          <a:solidFill>
            <a:schemeClr val="accent1"/>
          </a:solidFill>
          <a:ln w="12700">
            <a:solidFill>
              <a:schemeClr val="accent1"/>
            </a:solidFill>
            <a:prstDash val="solid"/>
          </a:ln>
        </p:spPr>
      </p:sp>
      <p:sp>
        <p:nvSpPr>
          <p:cNvPr id="23" name="Plan numarası 4 etiket"/>
          <p:cNvSpPr txBox="1"/>
          <p:nvPr/>
        </p:nvSpPr>
        <p:spPr>
          <a:xfrm>
            <a:off x="8037576" y="155448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4</a:t>
            </a:r>
            <a:endParaRPr lang="en-US" sz="2400" dirty="0"/>
          </a:p>
        </p:txBody>
      </p:sp>
      <p:sp>
        <p:nvSpPr>
          <p:cNvPr id="24" name="Plan bağlantı 4"/>
          <p:cNvSpPr/>
          <p:nvPr/>
        </p:nvSpPr>
        <p:spPr>
          <a:xfrm>
            <a:off x="8860536" y="1920240"/>
            <a:ext cx="1463040" cy="0"/>
          </a:xfrm>
          <a:prstGeom prst="line">
            <a:avLst/>
          </a:prstGeom>
          <a:noFill/>
          <a:ln w="19050">
            <a:solidFill>
              <a:schemeClr val="accent5"/>
            </a:solidFill>
            <a:prstDash val="dash"/>
          </a:ln>
        </p:spPr>
      </p:sp>
      <p:sp>
        <p:nvSpPr>
          <p:cNvPr id="25" name="Plan kartı 4"/>
          <p:cNvSpPr/>
          <p:nvPr/>
        </p:nvSpPr>
        <p:spPr>
          <a:xfrm>
            <a:off x="7351776" y="2560320"/>
            <a:ext cx="2103120" cy="265176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26" name="Plan başlık 4"/>
          <p:cNvSpPr txBox="1"/>
          <p:nvPr/>
        </p:nvSpPr>
        <p:spPr>
          <a:xfrm>
            <a:off x="7534656" y="2743200"/>
            <a:ext cx="1737360" cy="7772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Karşılaştırma</a:t>
            </a:r>
            <a:endParaRPr lang="en-US" sz="1800" dirty="0"/>
          </a:p>
        </p:txBody>
      </p:sp>
      <p:sp>
        <p:nvSpPr>
          <p:cNvPr id="27" name="Plan metni 4"/>
          <p:cNvSpPr txBox="1"/>
          <p:nvPr/>
        </p:nvSpPr>
        <p:spPr>
          <a:xfrm>
            <a:off x="7534656" y="3566160"/>
            <a:ext cx="1737360" cy="1554480"/>
          </a:xfrm>
          <a:prstGeom prst="rect">
            <a:avLst/>
          </a:prstGeom>
          <a:noFill/>
          <a:ln/>
        </p:spPr>
        <p:txBody>
          <a:bodyPr wrap="square" lIns="0" tIns="0" rIns="0" bIns="0" rtlCol="0" anchor="t"/>
          <a:lstStyle/>
          <a:p>
            <a:pPr indent="0" marL="0">
              <a:buNone/>
            </a:pPr>
            <a:r>
              <a:rPr lang="en-US" sz="1500" dirty="0">
                <a:solidFill>
                  <a:schemeClr val="tx1"/>
                </a:solidFill>
              </a:rPr>
              <a:t>Hazır model / CPT / CPT + SFT · dış setler + test kümesi</a:t>
            </a:r>
            <a:endParaRPr lang="en-US" sz="1500" dirty="0"/>
          </a:p>
        </p:txBody>
      </p:sp>
      <p:sp>
        <p:nvSpPr>
          <p:cNvPr id="28" name="Plan numarası 5"/>
          <p:cNvSpPr/>
          <p:nvPr/>
        </p:nvSpPr>
        <p:spPr>
          <a:xfrm>
            <a:off x="10305288" y="1554480"/>
            <a:ext cx="731520" cy="731520"/>
          </a:xfrm>
          <a:prstGeom prst="ellipse">
            <a:avLst/>
          </a:prstGeom>
          <a:solidFill>
            <a:schemeClr val="accent1"/>
          </a:solidFill>
          <a:ln w="12700">
            <a:solidFill>
              <a:schemeClr val="accent1"/>
            </a:solidFill>
            <a:prstDash val="solid"/>
          </a:ln>
        </p:spPr>
      </p:sp>
      <p:sp>
        <p:nvSpPr>
          <p:cNvPr id="29" name="Plan numarası 5 etiket"/>
          <p:cNvSpPr txBox="1"/>
          <p:nvPr/>
        </p:nvSpPr>
        <p:spPr>
          <a:xfrm>
            <a:off x="10305288" y="155448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rPr>
              <a:t>5</a:t>
            </a:r>
            <a:endParaRPr lang="en-US" sz="2400" dirty="0"/>
          </a:p>
        </p:txBody>
      </p:sp>
      <p:sp>
        <p:nvSpPr>
          <p:cNvPr id="30" name="Plan kartı 5"/>
          <p:cNvSpPr/>
          <p:nvPr/>
        </p:nvSpPr>
        <p:spPr>
          <a:xfrm>
            <a:off x="9619488" y="2560320"/>
            <a:ext cx="2103120" cy="265176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9AA8C7">
                <a:alpha val="25000"/>
              </a:srgbClr>
            </a:outerShdw>
          </a:effectLst>
        </p:spPr>
      </p:sp>
      <p:sp>
        <p:nvSpPr>
          <p:cNvPr id="31" name="Plan başlık 5"/>
          <p:cNvSpPr txBox="1"/>
          <p:nvPr/>
        </p:nvSpPr>
        <p:spPr>
          <a:xfrm>
            <a:off x="9802368" y="2743200"/>
            <a:ext cx="1737360" cy="7772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RAG ve uygulama</a:t>
            </a:r>
            <a:endParaRPr lang="en-US" sz="1800" dirty="0"/>
          </a:p>
        </p:txBody>
      </p:sp>
      <p:sp>
        <p:nvSpPr>
          <p:cNvPr id="32" name="Plan metni 5"/>
          <p:cNvSpPr txBox="1"/>
          <p:nvPr/>
        </p:nvSpPr>
        <p:spPr>
          <a:xfrm>
            <a:off x="9802368" y="3566160"/>
            <a:ext cx="1737360" cy="1554480"/>
          </a:xfrm>
          <a:prstGeom prst="rect">
            <a:avLst/>
          </a:prstGeom>
          <a:noFill/>
          <a:ln/>
        </p:spPr>
        <p:txBody>
          <a:bodyPr wrap="square" lIns="0" tIns="0" rIns="0" bIns="0" rtlCol="0" anchor="t"/>
          <a:lstStyle/>
          <a:p>
            <a:pPr indent="0" marL="0">
              <a:buNone/>
            </a:pPr>
            <a:r>
              <a:rPr lang="en-US" sz="1500" dirty="0">
                <a:solidFill>
                  <a:schemeClr val="tx1"/>
                </a:solidFill>
              </a:rPr>
              <a:t>Exoplanet Archive + corpus chunk'ları · REST API · arayüz</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731520" y="137160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Eğitime hazır mı? Evet</a:t>
            </a:r>
            <a:endParaRPr lang="en-US" sz="5400" dirty="0"/>
          </a:p>
        </p:txBody>
      </p:sp>
      <p:sp>
        <p:nvSpPr>
          <p:cNvPr id="4" name="Text 0"/>
          <p:cNvSpPr/>
          <p:nvPr>
            <p:ph idx="101" type="body" hasCustomPrompt="1"/>
          </p:nvPr>
        </p:nvSpPr>
        <p:spPr>
          <a:xfrm>
            <a:off x="731520" y="2697480"/>
            <a:ext cx="10698480" cy="914400"/>
          </a:xfrm>
          <a:prstGeom prst="rect">
            <a:avLst/>
          </a:prstGeom>
          <a:noFill/>
          <a:ln/>
        </p:spPr>
        <p:txBody>
          <a:bodyPr wrap="square" lIns="0" tIns="0" rIns="0" bIns="0" rtlCol="0" anchor="t"/>
          <a:lstStyle/>
          <a:p>
            <a:pPr indent="0" marL="0">
              <a:buNone/>
            </a:pPr>
            <a:r>
              <a:rPr lang="en-US" sz="2200" dirty="0">
                <a:solidFill>
                  <a:schemeClr val="accent5"/>
                </a:solidFill>
              </a:rPr>
              <a:t>validate_datasets.py · reports/validation_report.md</a:t>
            </a:r>
            <a:endParaRPr lang="en-US" sz="2200" dirty="0"/>
          </a:p>
        </p:txBody>
      </p:sp>
      <p:sp>
        <p:nvSpPr>
          <p:cNvPr id="5" name="Kontrol 1"/>
          <p:cNvSpPr/>
          <p:nvPr/>
        </p:nvSpPr>
        <p:spPr>
          <a:xfrm>
            <a:off x="731520" y="3794760"/>
            <a:ext cx="411480" cy="411480"/>
          </a:xfrm>
          <a:prstGeom prst="ellipse">
            <a:avLst/>
          </a:prstGeom>
          <a:solidFill>
            <a:schemeClr val="accent2"/>
          </a:solidFill>
          <a:ln w="12700">
            <a:solidFill>
              <a:schemeClr val="accent2"/>
            </a:solidFill>
            <a:prstDash val="solid"/>
          </a:ln>
        </p:spPr>
      </p:sp>
      <p:sp>
        <p:nvSpPr>
          <p:cNvPr id="6" name="Kontrol 1 etiket"/>
          <p:cNvSpPr txBox="1"/>
          <p:nvPr/>
        </p:nvSpPr>
        <p:spPr>
          <a:xfrm>
            <a:off x="731520" y="379476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7" name="Kontrol metni 1"/>
          <p:cNvSpPr txBox="1"/>
          <p:nvPr/>
        </p:nvSpPr>
        <p:spPr>
          <a:xfrm>
            <a:off x="1325880" y="3776472"/>
            <a:ext cx="9601200" cy="457200"/>
          </a:xfrm>
          <a:prstGeom prst="rect">
            <a:avLst/>
          </a:prstGeom>
          <a:noFill/>
          <a:ln/>
        </p:spPr>
        <p:txBody>
          <a:bodyPr wrap="square" lIns="0" tIns="0" rIns="0" bIns="0" rtlCol="0" anchor="ctr"/>
          <a:lstStyle/>
          <a:p>
            <a:pPr indent="0" marL="0">
              <a:buNone/>
            </a:pPr>
            <a:r>
              <a:rPr lang="en-US" sz="1800" dirty="0">
                <a:solidFill>
                  <a:schemeClr val="bg1"/>
                </a:solidFill>
              </a:rPr>
              <a:t>Hugging Face datasets ile yükleniyor (iki veri seti)</a:t>
            </a:r>
            <a:endParaRPr lang="en-US" sz="1800" dirty="0"/>
          </a:p>
        </p:txBody>
      </p:sp>
      <p:sp>
        <p:nvSpPr>
          <p:cNvPr id="8" name="Kontrol 2"/>
          <p:cNvSpPr/>
          <p:nvPr/>
        </p:nvSpPr>
        <p:spPr>
          <a:xfrm>
            <a:off x="731520" y="4343400"/>
            <a:ext cx="411480" cy="411480"/>
          </a:xfrm>
          <a:prstGeom prst="ellipse">
            <a:avLst/>
          </a:prstGeom>
          <a:solidFill>
            <a:schemeClr val="accent2"/>
          </a:solidFill>
          <a:ln w="12700">
            <a:solidFill>
              <a:schemeClr val="accent2"/>
            </a:solidFill>
            <a:prstDash val="solid"/>
          </a:ln>
        </p:spPr>
      </p:sp>
      <p:sp>
        <p:nvSpPr>
          <p:cNvPr id="9" name="Kontrol 2 etiket"/>
          <p:cNvSpPr txBox="1"/>
          <p:nvPr/>
        </p:nvSpPr>
        <p:spPr>
          <a:xfrm>
            <a:off x="731520" y="434340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10" name="Kontrol metni 2"/>
          <p:cNvSpPr txBox="1"/>
          <p:nvPr/>
        </p:nvSpPr>
        <p:spPr>
          <a:xfrm>
            <a:off x="1325880" y="4325112"/>
            <a:ext cx="9601200" cy="457200"/>
          </a:xfrm>
          <a:prstGeom prst="rect">
            <a:avLst/>
          </a:prstGeom>
          <a:noFill/>
          <a:ln/>
        </p:spPr>
        <p:txBody>
          <a:bodyPr wrap="square" lIns="0" tIns="0" rIns="0" bIns="0" rtlCol="0" anchor="ctr"/>
          <a:lstStyle/>
          <a:p>
            <a:pPr indent="0" marL="0">
              <a:buNone/>
            </a:pPr>
            <a:r>
              <a:rPr lang="en-US" sz="1800" dirty="0">
                <a:solidFill>
                  <a:schemeClr val="bg1"/>
                </a:solidFill>
              </a:rPr>
              <a:t>Qwen2.5-7B-Instruct sohbet şablonu: hata 0, en uzun 971 token</a:t>
            </a:r>
            <a:endParaRPr lang="en-US" sz="1800" dirty="0"/>
          </a:p>
        </p:txBody>
      </p:sp>
      <p:sp>
        <p:nvSpPr>
          <p:cNvPr id="11" name="Kontrol 3"/>
          <p:cNvSpPr/>
          <p:nvPr/>
        </p:nvSpPr>
        <p:spPr>
          <a:xfrm>
            <a:off x="731520" y="4892040"/>
            <a:ext cx="411480" cy="411480"/>
          </a:xfrm>
          <a:prstGeom prst="ellipse">
            <a:avLst/>
          </a:prstGeom>
          <a:solidFill>
            <a:schemeClr val="accent2"/>
          </a:solidFill>
          <a:ln w="12700">
            <a:solidFill>
              <a:schemeClr val="accent2"/>
            </a:solidFill>
            <a:prstDash val="solid"/>
          </a:ln>
        </p:spPr>
      </p:sp>
      <p:sp>
        <p:nvSpPr>
          <p:cNvPr id="12" name="Kontrol 3 etiket"/>
          <p:cNvSpPr txBox="1"/>
          <p:nvPr/>
        </p:nvSpPr>
        <p:spPr>
          <a:xfrm>
            <a:off x="731520" y="489204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13" name="Kontrol metni 3"/>
          <p:cNvSpPr txBox="1"/>
          <p:nvPr/>
        </p:nvSpPr>
        <p:spPr>
          <a:xfrm>
            <a:off x="1325880" y="4873752"/>
            <a:ext cx="9601200" cy="457200"/>
          </a:xfrm>
          <a:prstGeom prst="rect">
            <a:avLst/>
          </a:prstGeom>
          <a:noFill/>
          <a:ln/>
        </p:spPr>
        <p:txBody>
          <a:bodyPr wrap="square" lIns="0" tIns="0" rIns="0" bIns="0" rtlCol="0" anchor="ctr"/>
          <a:lstStyle/>
          <a:p>
            <a:pPr indent="0" marL="0">
              <a:buNone/>
            </a:pPr>
            <a:r>
              <a:rPr lang="en-US" sz="1800" dirty="0">
                <a:solidFill>
                  <a:schemeClr val="bg1"/>
                </a:solidFill>
              </a:rPr>
              <a:t>Kümeler arası sızıntı 0 · değerlendirme setleriyle örtüşme 0</a:t>
            </a:r>
            <a:endParaRPr lang="en-US" sz="1800" dirty="0"/>
          </a:p>
        </p:txBody>
      </p:sp>
      <p:sp>
        <p:nvSpPr>
          <p:cNvPr id="14" name="Kontrol 4"/>
          <p:cNvSpPr/>
          <p:nvPr/>
        </p:nvSpPr>
        <p:spPr>
          <a:xfrm>
            <a:off x="731520" y="5440680"/>
            <a:ext cx="411480" cy="411480"/>
          </a:xfrm>
          <a:prstGeom prst="ellipse">
            <a:avLst/>
          </a:prstGeom>
          <a:solidFill>
            <a:schemeClr val="accent2"/>
          </a:solidFill>
          <a:ln w="12700">
            <a:solidFill>
              <a:schemeClr val="accent2"/>
            </a:solidFill>
            <a:prstDash val="solid"/>
          </a:ln>
        </p:spPr>
      </p:sp>
      <p:sp>
        <p:nvSpPr>
          <p:cNvPr id="15" name="Kontrol 4 etiket"/>
          <p:cNvSpPr txBox="1"/>
          <p:nvPr/>
        </p:nvSpPr>
        <p:spPr>
          <a:xfrm>
            <a:off x="731520" y="544068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16" name="Kontrol metni 4"/>
          <p:cNvSpPr txBox="1"/>
          <p:nvPr/>
        </p:nvSpPr>
        <p:spPr>
          <a:xfrm>
            <a:off x="1325880" y="5422392"/>
            <a:ext cx="9601200" cy="457200"/>
          </a:xfrm>
          <a:prstGeom prst="rect">
            <a:avLst/>
          </a:prstGeom>
          <a:noFill/>
          <a:ln/>
        </p:spPr>
        <p:txBody>
          <a:bodyPr wrap="square" lIns="0" tIns="0" rIns="0" bIns="0" rtlCol="0" anchor="ctr"/>
          <a:lstStyle/>
          <a:p>
            <a:pPr indent="0" marL="0">
              <a:buNone/>
            </a:pPr>
            <a:r>
              <a:rPr lang="en-US" sz="1800" dirty="0">
                <a:solidFill>
                  <a:schemeClr val="bg1"/>
                </a:solidFill>
              </a:rPr>
              <a:t>Sıfırdan yeniden üretimde birebir aynı çıktı</a:t>
            </a:r>
            <a:endParaRPr lang="en-US" sz="1800" dirty="0"/>
          </a:p>
        </p:txBody>
      </p:sp>
      <p:sp>
        <p:nvSpPr>
          <p:cNvPr id="17" name="Kapanış"/>
          <p:cNvSpPr txBox="1"/>
          <p:nvPr/>
        </p:nvSpPr>
        <p:spPr>
          <a:xfrm>
            <a:off x="731520" y="6080760"/>
            <a:ext cx="10698480" cy="457200"/>
          </a:xfrm>
          <a:prstGeom prst="rect">
            <a:avLst/>
          </a:prstGeom>
          <a:noFill/>
          <a:ln/>
        </p:spPr>
        <p:txBody>
          <a:bodyPr wrap="square" lIns="0" tIns="0" rIns="0" bIns="0" rtlCol="0" anchor="t"/>
          <a:lstStyle/>
          <a:p>
            <a:pPr indent="0" marL="0">
              <a:buNone/>
            </a:pPr>
            <a:r>
              <a:rPr lang="en-US" sz="1800" b="1" dirty="0">
                <a:solidFill>
                  <a:schemeClr val="accent1"/>
                </a:solidFill>
              </a:rPr>
              <a:t>Teşekkürler · Sorular</a:t>
            </a:r>
            <a:endParaRPr lang="en-US" sz="1800" dirty="0"/>
          </a:p>
        </p:txBody>
      </p:sp>
    </p:spTree>
  </p:cSld>
  <p:clrMapOvr>
    <a:masterClrMapping/>
  </p:clrMapOvr>
</p:sld>
</file>

<file path=ppt/theme/theme1.xml><?xml version="1.0" encoding="utf-8"?>
<a:theme xmlns:a="http://schemas.openxmlformats.org/drawingml/2006/main" name="AstroTutor Uzay">
  <a:themeElements>
    <a:clrScheme name="AstroTutor Uzay">
      <a:dk1>
        <a:srgbClr val="0B1026"/>
      </a:dk1>
      <a:lt1>
        <a:srgbClr val="FFFFFF"/>
      </a:lt1>
      <a:dk2>
        <a:srgbClr val="24345C"/>
      </a:dk2>
      <a:lt2>
        <a:srgbClr val="EEF2FA"/>
      </a:lt2>
      <a:accent1>
        <a:srgbClr val="E8A21E"/>
      </a:accent1>
      <a:accent2>
        <a:srgbClr val="2A9D8F"/>
      </a:accent2>
      <a:accent3>
        <a:srgbClr val="5B7DB8"/>
      </a:accent3>
      <a:accent4>
        <a:srgbClr val="D1495B"/>
      </a:accent4>
      <a:accent5>
        <a:srgbClr val="9AA8C7"/>
      </a:accent5>
      <a:accent6>
        <a:srgbClr val="1F3B73"/>
      </a:accent6>
      <a:hlink>
        <a:srgbClr val="2A9D8F"/>
      </a:hlink>
      <a:folHlink>
        <a:srgbClr val="5B7DB8"/>
      </a:folHlink>
    </a:clrScheme>
    <a:fontScheme name="AstroTutor Uza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AstroTutor AI — Vize Sunumu</dc:title>
  <dc:subject>Domain Corpus v1.0 ve Instruction Dataset v1.0</dc:subject>
  <dc:creator>Eda Gögebakan</dc:creator>
  <cp:lastModifiedBy>Eda Gögebakan</cp:lastModifiedBy>
  <cp:revision>1</cp:revision>
  <dcterms:created xsi:type="dcterms:W3CDTF">2026-10-26T09:17:06Z</dcterms:created>
  <dcterms:modified xsi:type="dcterms:W3CDTF">2026-10-26T09:17:06Z</dcterms:modified>
</cp:coreProperties>
</file>